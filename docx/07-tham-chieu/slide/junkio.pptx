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03-Apr-26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03-Apr-26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03-Apr-26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03-Apr-26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03-Apr-26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03-Apr-26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03-Apr-26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658368"/>
            <a:ext cx="5852160" cy="54406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868680"/>
            <a:ext cx="3017520" cy="182880"/>
          </a:xfrm>
          <a:prstGeom prst="rect">
            <a:avLst/>
          </a:prstGeom>
          <a:noFill/>
        </p:spPr>
        <p:txBody>
          <a:bodyPr wrap="square" lIns="0" tIns="0" rIns="0" bIns="0" anchor="t">
            <a:spAutoFit/>
          </a:bodyPr>
          <a:lstStyle/>
          <a:p>
            <a:pPr algn="l"/>
            <a:r>
              <a:rPr sz="1200" b="1" i="0">
                <a:solidFill>
                  <a:srgbClr val="FEF3C7"/>
                </a:solidFill>
                <a:latin typeface="Segoe UI"/>
              </a:rPr>
              <a:t>BÁO CÁO THUYẾT TRÌNH CUỐI KỲ</a:t>
            </a:r>
          </a:p>
        </p:txBody>
      </p:sp>
      <p:sp>
        <p:nvSpPr>
          <p:cNvPr id="6" name="TextBox 5"/>
          <p:cNvSpPr txBox="1"/>
          <p:nvPr/>
        </p:nvSpPr>
        <p:spPr>
          <a:xfrm>
            <a:off x="877824" y="1353312"/>
            <a:ext cx="5486400" cy="713232"/>
          </a:xfrm>
          <a:prstGeom prst="rect">
            <a:avLst/>
          </a:prstGeom>
          <a:noFill/>
        </p:spPr>
        <p:txBody>
          <a:bodyPr wrap="square" lIns="0" tIns="0" rIns="0" bIns="0" anchor="t">
            <a:spAutoFit/>
          </a:bodyPr>
          <a:lstStyle/>
          <a:p>
            <a:pPr algn="l"/>
            <a:r>
              <a:rPr sz="2800" b="1" i="0">
                <a:solidFill>
                  <a:srgbClr val="FFFFFF"/>
                </a:solidFill>
                <a:latin typeface="Segoe UI"/>
              </a:rPr>
              <a:t>Junkio Expense Tracker</a:t>
            </a:r>
          </a:p>
        </p:txBody>
      </p:sp>
      <p:sp>
        <p:nvSpPr>
          <p:cNvPr id="7" name="TextBox 6"/>
          <p:cNvSpPr txBox="1"/>
          <p:nvPr/>
        </p:nvSpPr>
        <p:spPr>
          <a:xfrm>
            <a:off x="877824" y="2148840"/>
            <a:ext cx="5212080" cy="329184"/>
          </a:xfrm>
          <a:prstGeom prst="rect">
            <a:avLst/>
          </a:prstGeom>
          <a:noFill/>
        </p:spPr>
        <p:txBody>
          <a:bodyPr wrap="square" lIns="0" tIns="0" rIns="0" bIns="0" anchor="t">
            <a:spAutoFit/>
          </a:bodyPr>
          <a:lstStyle/>
          <a:p>
            <a:pPr algn="l"/>
            <a:r>
              <a:rPr sz="1800" b="0" i="0">
                <a:solidFill>
                  <a:srgbClr val="E2E8F0"/>
                </a:solidFill>
                <a:latin typeface="Segoe UI"/>
              </a:rPr>
              <a:t>Ứng dụng web quản lý chi tiêu cá nhân và gia đình</a:t>
            </a:r>
          </a:p>
        </p:txBody>
      </p:sp>
      <p:sp>
        <p:nvSpPr>
          <p:cNvPr id="8" name="TextBox 7"/>
          <p:cNvSpPr txBox="1"/>
          <p:nvPr/>
        </p:nvSpPr>
        <p:spPr>
          <a:xfrm>
            <a:off x="877824" y="2907792"/>
            <a:ext cx="4480560" cy="182880"/>
          </a:xfrm>
          <a:prstGeom prst="rect">
            <a:avLst/>
          </a:prstGeom>
          <a:noFill/>
        </p:spPr>
        <p:txBody>
          <a:bodyPr wrap="square" lIns="0" tIns="0" rIns="0" bIns="0" anchor="t">
            <a:spAutoFit/>
          </a:bodyPr>
          <a:lstStyle/>
          <a:p>
            <a:pPr algn="l"/>
            <a:r>
              <a:rPr sz="1500" b="0" i="0">
                <a:solidFill>
                  <a:srgbClr val="FFFFFF"/>
                </a:solidFill>
                <a:latin typeface="Segoe UI"/>
              </a:rPr>
              <a:t>Sinh viên: [Điền họ tên]</a:t>
            </a:r>
          </a:p>
        </p:txBody>
      </p:sp>
      <p:sp>
        <p:nvSpPr>
          <p:cNvPr id="9" name="TextBox 8"/>
          <p:cNvSpPr txBox="1"/>
          <p:nvPr/>
        </p:nvSpPr>
        <p:spPr>
          <a:xfrm>
            <a:off x="877824" y="3255264"/>
            <a:ext cx="4480560" cy="182880"/>
          </a:xfrm>
          <a:prstGeom prst="rect">
            <a:avLst/>
          </a:prstGeom>
          <a:noFill/>
        </p:spPr>
        <p:txBody>
          <a:bodyPr wrap="square" lIns="0" tIns="0" rIns="0" bIns="0" anchor="t">
            <a:spAutoFit/>
          </a:bodyPr>
          <a:lstStyle/>
          <a:p>
            <a:pPr algn="l"/>
            <a:r>
              <a:rPr sz="1500" b="0" i="0">
                <a:solidFill>
                  <a:srgbClr val="FFFFFF"/>
                </a:solidFill>
                <a:latin typeface="Segoe UI"/>
              </a:rPr>
              <a:t>MSSV: [Điền MSSV]</a:t>
            </a:r>
          </a:p>
        </p:txBody>
      </p:sp>
      <p:sp>
        <p:nvSpPr>
          <p:cNvPr id="10" name="TextBox 9"/>
          <p:cNvSpPr txBox="1"/>
          <p:nvPr/>
        </p:nvSpPr>
        <p:spPr>
          <a:xfrm>
            <a:off x="877824" y="3602736"/>
            <a:ext cx="4480560" cy="182880"/>
          </a:xfrm>
          <a:prstGeom prst="rect">
            <a:avLst/>
          </a:prstGeom>
          <a:noFill/>
        </p:spPr>
        <p:txBody>
          <a:bodyPr wrap="square" lIns="0" tIns="0" rIns="0" bIns="0" anchor="t">
            <a:spAutoFit/>
          </a:bodyPr>
          <a:lstStyle/>
          <a:p>
            <a:pPr algn="l"/>
            <a:r>
              <a:rPr sz="1500" b="0" i="0">
                <a:solidFill>
                  <a:srgbClr val="FFFFFF"/>
                </a:solidFill>
                <a:latin typeface="Segoe UI"/>
              </a:rPr>
              <a:t>Lớp: [Điền lớp]</a:t>
            </a:r>
          </a:p>
        </p:txBody>
      </p:sp>
      <p:sp>
        <p:nvSpPr>
          <p:cNvPr id="11" name="TextBox 10"/>
          <p:cNvSpPr txBox="1"/>
          <p:nvPr/>
        </p:nvSpPr>
        <p:spPr>
          <a:xfrm>
            <a:off x="877824" y="3950208"/>
            <a:ext cx="4480560" cy="182880"/>
          </a:xfrm>
          <a:prstGeom prst="rect">
            <a:avLst/>
          </a:prstGeom>
          <a:noFill/>
        </p:spPr>
        <p:txBody>
          <a:bodyPr wrap="square" lIns="0" tIns="0" rIns="0" bIns="0" anchor="t">
            <a:spAutoFit/>
          </a:bodyPr>
          <a:lstStyle/>
          <a:p>
            <a:pPr algn="l"/>
            <a:r>
              <a:rPr sz="1500" b="0" i="0">
                <a:solidFill>
                  <a:srgbClr val="FFFFFF"/>
                </a:solidFill>
                <a:latin typeface="Segoe UI"/>
              </a:rPr>
              <a:t>GVHD: [Điền tên giảng viên]</a:t>
            </a:r>
          </a:p>
        </p:txBody>
      </p:sp>
      <p:sp>
        <p:nvSpPr>
          <p:cNvPr id="12" name="Rounded Rectangle 11"/>
          <p:cNvSpPr/>
          <p:nvPr/>
        </p:nvSpPr>
        <p:spPr>
          <a:xfrm>
            <a:off x="877824" y="4709160"/>
            <a:ext cx="1271016" cy="310896"/>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 y="4754880"/>
            <a:ext cx="1271016" cy="146304"/>
          </a:xfrm>
          <a:prstGeom prst="rect">
            <a:avLst/>
          </a:prstGeom>
          <a:noFill/>
        </p:spPr>
        <p:txBody>
          <a:bodyPr wrap="square" lIns="0" tIns="0" rIns="0" bIns="0" anchor="t">
            <a:spAutoFit/>
          </a:bodyPr>
          <a:lstStyle/>
          <a:p>
            <a:pPr algn="ctr"/>
            <a:r>
              <a:rPr sz="1050" b="1" i="0">
                <a:solidFill>
                  <a:srgbClr val="0F172A"/>
                </a:solidFill>
                <a:latin typeface="Segoe UI"/>
              </a:rPr>
              <a:t>React + Vite</a:t>
            </a:r>
          </a:p>
        </p:txBody>
      </p:sp>
      <p:sp>
        <p:nvSpPr>
          <p:cNvPr id="14" name="Rounded Rectangle 13"/>
          <p:cNvSpPr/>
          <p:nvPr/>
        </p:nvSpPr>
        <p:spPr>
          <a:xfrm>
            <a:off x="2258568" y="4709160"/>
            <a:ext cx="1591056" cy="310896"/>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58568" y="4754880"/>
            <a:ext cx="1591056" cy="146304"/>
          </a:xfrm>
          <a:prstGeom prst="rect">
            <a:avLst/>
          </a:prstGeom>
          <a:noFill/>
        </p:spPr>
        <p:txBody>
          <a:bodyPr wrap="square" lIns="0" tIns="0" rIns="0" bIns="0" anchor="t">
            <a:spAutoFit/>
          </a:bodyPr>
          <a:lstStyle/>
          <a:p>
            <a:pPr algn="ctr"/>
            <a:r>
              <a:rPr sz="1050" b="1" i="0">
                <a:solidFill>
                  <a:srgbClr val="0F172A"/>
                </a:solidFill>
                <a:latin typeface="Segoe UI"/>
              </a:rPr>
              <a:t>Node.js + Express</a:t>
            </a:r>
          </a:p>
        </p:txBody>
      </p:sp>
      <p:sp>
        <p:nvSpPr>
          <p:cNvPr id="16" name="Rounded Rectangle 15"/>
          <p:cNvSpPr/>
          <p:nvPr/>
        </p:nvSpPr>
        <p:spPr>
          <a:xfrm>
            <a:off x="3959352" y="4709160"/>
            <a:ext cx="1399032" cy="310896"/>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59352" y="4754880"/>
            <a:ext cx="1399032" cy="146304"/>
          </a:xfrm>
          <a:prstGeom prst="rect">
            <a:avLst/>
          </a:prstGeom>
          <a:noFill/>
        </p:spPr>
        <p:txBody>
          <a:bodyPr wrap="square" lIns="0" tIns="0" rIns="0" bIns="0" anchor="t">
            <a:spAutoFit/>
          </a:bodyPr>
          <a:lstStyle/>
          <a:p>
            <a:pPr algn="ctr"/>
            <a:r>
              <a:rPr sz="1050" b="1" i="0">
                <a:solidFill>
                  <a:srgbClr val="0F172A"/>
                </a:solidFill>
                <a:latin typeface="Segoe UI"/>
              </a:rPr>
              <a:t>Docker Compose</a:t>
            </a:r>
          </a:p>
        </p:txBody>
      </p:sp>
      <p:sp>
        <p:nvSpPr>
          <p:cNvPr id="18" name="TextBox 17"/>
          <p:cNvSpPr txBox="1"/>
          <p:nvPr/>
        </p:nvSpPr>
        <p:spPr>
          <a:xfrm>
            <a:off x="877824" y="5321808"/>
            <a:ext cx="5440680" cy="274320"/>
          </a:xfrm>
          <a:prstGeom prst="rect">
            <a:avLst/>
          </a:prstGeom>
          <a:noFill/>
        </p:spPr>
        <p:txBody>
          <a:bodyPr wrap="square" lIns="0" tIns="0" rIns="0" bIns="0" anchor="t">
            <a:spAutoFit/>
          </a:bodyPr>
          <a:lstStyle/>
          <a:p>
            <a:pPr algn="l"/>
            <a:r>
              <a:rPr sz="1220" b="0" i="0">
                <a:solidFill>
                  <a:srgbClr val="E2E8F0"/>
                </a:solidFill>
                <a:latin typeface="Segoe UI"/>
              </a:rPr>
              <a:t>Mục tiêu của phần trình bày là chứng minh hệ thống đã được hoàn thiện ở cả kiến trúc, chức năng, bảo mật, kiểm thử và đóng gói triển khai.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Nội dung thuyết trình</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Bản mở rộng 20 slide đi theo thứ tự từ bài toán, kiến trúc, demo chức năng đến đánh giá hoàn thiện.</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2</a:t>
            </a:r>
          </a:p>
        </p:txBody>
      </p:sp>
      <p:sp>
        <p:nvSpPr>
          <p:cNvPr id="7" name="Rounded Rectangle 6"/>
          <p:cNvSpPr/>
          <p:nvPr/>
        </p:nvSpPr>
        <p:spPr>
          <a:xfrm>
            <a:off x="914400" y="1645920"/>
            <a:ext cx="1028700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78992" y="1801368"/>
            <a:ext cx="621792" cy="512064"/>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1929384"/>
            <a:ext cx="621792" cy="146304"/>
          </a:xfrm>
          <a:prstGeom prst="rect">
            <a:avLst/>
          </a:prstGeom>
          <a:noFill/>
        </p:spPr>
        <p:txBody>
          <a:bodyPr wrap="square" lIns="0" tIns="0" rIns="0" bIns="0" anchor="t">
            <a:spAutoFit/>
          </a:bodyPr>
          <a:lstStyle/>
          <a:p>
            <a:pPr algn="ctr"/>
            <a:r>
              <a:rPr sz="1400" b="1" i="0">
                <a:solidFill>
                  <a:srgbClr val="0F172A"/>
                </a:solidFill>
                <a:latin typeface="Segoe UI"/>
              </a:rPr>
              <a:t>01</a:t>
            </a:r>
          </a:p>
        </p:txBody>
      </p:sp>
      <p:sp>
        <p:nvSpPr>
          <p:cNvPr id="10" name="TextBox 9"/>
          <p:cNvSpPr txBox="1"/>
          <p:nvPr/>
        </p:nvSpPr>
        <p:spPr>
          <a:xfrm>
            <a:off x="1938528" y="1810512"/>
            <a:ext cx="3291840" cy="164592"/>
          </a:xfrm>
          <a:prstGeom prst="rect">
            <a:avLst/>
          </a:prstGeom>
          <a:noFill/>
        </p:spPr>
        <p:txBody>
          <a:bodyPr wrap="square" lIns="0" tIns="0" rIns="0" bIns="0" anchor="t">
            <a:spAutoFit/>
          </a:bodyPr>
          <a:lstStyle/>
          <a:p>
            <a:pPr algn="l"/>
            <a:r>
              <a:rPr sz="1800" b="1" i="0">
                <a:solidFill>
                  <a:srgbClr val="0F172A"/>
                </a:solidFill>
                <a:latin typeface="Segoe UI"/>
              </a:rPr>
              <a:t>Bài toán và mục tiêu</a:t>
            </a:r>
          </a:p>
        </p:txBody>
      </p:sp>
      <p:sp>
        <p:nvSpPr>
          <p:cNvPr id="11" name="TextBox 10"/>
          <p:cNvSpPr txBox="1"/>
          <p:nvPr/>
        </p:nvSpPr>
        <p:spPr>
          <a:xfrm>
            <a:off x="1938528" y="2075688"/>
            <a:ext cx="8046720" cy="146304"/>
          </a:xfrm>
          <a:prstGeom prst="rect">
            <a:avLst/>
          </a:prstGeom>
          <a:noFill/>
        </p:spPr>
        <p:txBody>
          <a:bodyPr wrap="square" lIns="0" tIns="0" rIns="0" bIns="0" anchor="t">
            <a:spAutoFit/>
          </a:bodyPr>
          <a:lstStyle/>
          <a:p>
            <a:pPr algn="l"/>
            <a:r>
              <a:rPr sz="1250" b="0" i="0">
                <a:solidFill>
                  <a:srgbClr val="475569"/>
                </a:solidFill>
                <a:latin typeface="Segoe UI"/>
              </a:rPr>
              <a:t>Nêu nhu cầu thực tế, mục tiêu và phạm vi sản phẩm.</a:t>
            </a:r>
          </a:p>
        </p:txBody>
      </p:sp>
      <p:sp>
        <p:nvSpPr>
          <p:cNvPr id="12" name="Rounded Rectangle 11"/>
          <p:cNvSpPr/>
          <p:nvPr/>
        </p:nvSpPr>
        <p:spPr>
          <a:xfrm>
            <a:off x="914400" y="2670048"/>
            <a:ext cx="1028700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78992" y="2825496"/>
            <a:ext cx="621792" cy="512064"/>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2953512"/>
            <a:ext cx="621792" cy="146304"/>
          </a:xfrm>
          <a:prstGeom prst="rect">
            <a:avLst/>
          </a:prstGeom>
          <a:noFill/>
        </p:spPr>
        <p:txBody>
          <a:bodyPr wrap="square" lIns="0" tIns="0" rIns="0" bIns="0" anchor="t">
            <a:spAutoFit/>
          </a:bodyPr>
          <a:lstStyle/>
          <a:p>
            <a:pPr algn="ctr"/>
            <a:r>
              <a:rPr sz="1400" b="1" i="0">
                <a:solidFill>
                  <a:srgbClr val="0F172A"/>
                </a:solidFill>
                <a:latin typeface="Segoe UI"/>
              </a:rPr>
              <a:t>02</a:t>
            </a:r>
          </a:p>
        </p:txBody>
      </p:sp>
      <p:sp>
        <p:nvSpPr>
          <p:cNvPr id="15" name="TextBox 14"/>
          <p:cNvSpPr txBox="1"/>
          <p:nvPr/>
        </p:nvSpPr>
        <p:spPr>
          <a:xfrm>
            <a:off x="1938528" y="2834640"/>
            <a:ext cx="3291840" cy="164592"/>
          </a:xfrm>
          <a:prstGeom prst="rect">
            <a:avLst/>
          </a:prstGeom>
          <a:noFill/>
        </p:spPr>
        <p:txBody>
          <a:bodyPr wrap="square" lIns="0" tIns="0" rIns="0" bIns="0" anchor="t">
            <a:spAutoFit/>
          </a:bodyPr>
          <a:lstStyle/>
          <a:p>
            <a:pPr algn="l"/>
            <a:r>
              <a:rPr sz="1800" b="1" i="0">
                <a:solidFill>
                  <a:srgbClr val="0F172A"/>
                </a:solidFill>
                <a:latin typeface="Segoe UI"/>
              </a:rPr>
              <a:t>Kiến trúc và công nghệ</a:t>
            </a:r>
          </a:p>
        </p:txBody>
      </p:sp>
      <p:sp>
        <p:nvSpPr>
          <p:cNvPr id="16" name="TextBox 15"/>
          <p:cNvSpPr txBox="1"/>
          <p:nvPr/>
        </p:nvSpPr>
        <p:spPr>
          <a:xfrm>
            <a:off x="1938528" y="3099815"/>
            <a:ext cx="8046720" cy="146304"/>
          </a:xfrm>
          <a:prstGeom prst="rect">
            <a:avLst/>
          </a:prstGeom>
          <a:noFill/>
        </p:spPr>
        <p:txBody>
          <a:bodyPr wrap="square" lIns="0" tIns="0" rIns="0" bIns="0" anchor="t">
            <a:spAutoFit/>
          </a:bodyPr>
          <a:lstStyle/>
          <a:p>
            <a:pPr algn="l"/>
            <a:r>
              <a:rPr sz="1250" b="0" i="0">
                <a:solidFill>
                  <a:srgbClr val="475569"/>
                </a:solidFill>
                <a:latin typeface="Segoe UI"/>
              </a:rPr>
              <a:t>Giải thích FE/BE, dữ liệu, bảo mật, Docker.</a:t>
            </a:r>
          </a:p>
        </p:txBody>
      </p:sp>
      <p:sp>
        <p:nvSpPr>
          <p:cNvPr id="17" name="Rounded Rectangle 16"/>
          <p:cNvSpPr/>
          <p:nvPr/>
        </p:nvSpPr>
        <p:spPr>
          <a:xfrm>
            <a:off x="914400" y="3694176"/>
            <a:ext cx="1028700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78992" y="3849624"/>
            <a:ext cx="621792" cy="512064"/>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3977639"/>
            <a:ext cx="621792" cy="146304"/>
          </a:xfrm>
          <a:prstGeom prst="rect">
            <a:avLst/>
          </a:prstGeom>
          <a:noFill/>
        </p:spPr>
        <p:txBody>
          <a:bodyPr wrap="square" lIns="0" tIns="0" rIns="0" bIns="0" anchor="t">
            <a:spAutoFit/>
          </a:bodyPr>
          <a:lstStyle/>
          <a:p>
            <a:pPr algn="ctr"/>
            <a:r>
              <a:rPr sz="1400" b="1" i="0">
                <a:solidFill>
                  <a:srgbClr val="0F172A"/>
                </a:solidFill>
                <a:latin typeface="Segoe UI"/>
              </a:rPr>
              <a:t>03</a:t>
            </a:r>
          </a:p>
        </p:txBody>
      </p:sp>
      <p:sp>
        <p:nvSpPr>
          <p:cNvPr id="20" name="TextBox 19"/>
          <p:cNvSpPr txBox="1"/>
          <p:nvPr/>
        </p:nvSpPr>
        <p:spPr>
          <a:xfrm>
            <a:off x="1938528" y="3858768"/>
            <a:ext cx="3291840" cy="164592"/>
          </a:xfrm>
          <a:prstGeom prst="rect">
            <a:avLst/>
          </a:prstGeom>
          <a:noFill/>
        </p:spPr>
        <p:txBody>
          <a:bodyPr wrap="square" lIns="0" tIns="0" rIns="0" bIns="0" anchor="t">
            <a:spAutoFit/>
          </a:bodyPr>
          <a:lstStyle/>
          <a:p>
            <a:pPr algn="l"/>
            <a:r>
              <a:rPr sz="1800" b="1" i="0">
                <a:solidFill>
                  <a:srgbClr val="0F172A"/>
                </a:solidFill>
                <a:latin typeface="Segoe UI"/>
              </a:rPr>
              <a:t>Chức năng và luồng demo</a:t>
            </a:r>
          </a:p>
        </p:txBody>
      </p:sp>
      <p:sp>
        <p:nvSpPr>
          <p:cNvPr id="21" name="TextBox 20"/>
          <p:cNvSpPr txBox="1"/>
          <p:nvPr/>
        </p:nvSpPr>
        <p:spPr>
          <a:xfrm>
            <a:off x="1938528" y="4123944"/>
            <a:ext cx="8046720" cy="146304"/>
          </a:xfrm>
          <a:prstGeom prst="rect">
            <a:avLst/>
          </a:prstGeom>
          <a:noFill/>
        </p:spPr>
        <p:txBody>
          <a:bodyPr wrap="square" lIns="0" tIns="0" rIns="0" bIns="0" anchor="t">
            <a:spAutoFit/>
          </a:bodyPr>
          <a:lstStyle/>
          <a:p>
            <a:pPr algn="l"/>
            <a:r>
              <a:rPr sz="1250" b="0" i="0">
                <a:solidFill>
                  <a:srgbClr val="475569"/>
                </a:solidFill>
                <a:latin typeface="Segoe UI"/>
              </a:rPr>
              <a:t>Đi qua các nghiệp vụ chính, API, dashboard, admin.</a:t>
            </a:r>
          </a:p>
        </p:txBody>
      </p:sp>
      <p:sp>
        <p:nvSpPr>
          <p:cNvPr id="22" name="Rounded Rectangle 21"/>
          <p:cNvSpPr/>
          <p:nvPr/>
        </p:nvSpPr>
        <p:spPr>
          <a:xfrm>
            <a:off x="914400" y="4718304"/>
            <a:ext cx="1028700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78992" y="4873752"/>
            <a:ext cx="621792" cy="512064"/>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 y="5001768"/>
            <a:ext cx="621792" cy="146304"/>
          </a:xfrm>
          <a:prstGeom prst="rect">
            <a:avLst/>
          </a:prstGeom>
          <a:noFill/>
        </p:spPr>
        <p:txBody>
          <a:bodyPr wrap="square" lIns="0" tIns="0" rIns="0" bIns="0" anchor="t">
            <a:spAutoFit/>
          </a:bodyPr>
          <a:lstStyle/>
          <a:p>
            <a:pPr algn="ctr"/>
            <a:r>
              <a:rPr sz="1400" b="1" i="0">
                <a:solidFill>
                  <a:srgbClr val="0F172A"/>
                </a:solidFill>
                <a:latin typeface="Segoe UI"/>
              </a:rPr>
              <a:t>04</a:t>
            </a:r>
          </a:p>
        </p:txBody>
      </p:sp>
      <p:sp>
        <p:nvSpPr>
          <p:cNvPr id="25" name="TextBox 24"/>
          <p:cNvSpPr txBox="1"/>
          <p:nvPr/>
        </p:nvSpPr>
        <p:spPr>
          <a:xfrm>
            <a:off x="1938528" y="4882896"/>
            <a:ext cx="3291840" cy="164592"/>
          </a:xfrm>
          <a:prstGeom prst="rect">
            <a:avLst/>
          </a:prstGeom>
          <a:noFill/>
        </p:spPr>
        <p:txBody>
          <a:bodyPr wrap="square" lIns="0" tIns="0" rIns="0" bIns="0" anchor="t">
            <a:spAutoFit/>
          </a:bodyPr>
          <a:lstStyle/>
          <a:p>
            <a:pPr algn="l"/>
            <a:r>
              <a:rPr sz="1800" b="1" i="0">
                <a:solidFill>
                  <a:srgbClr val="0F172A"/>
                </a:solidFill>
                <a:latin typeface="Segoe UI"/>
              </a:rPr>
              <a:t>Đánh giá và kết luận</a:t>
            </a:r>
          </a:p>
        </p:txBody>
      </p:sp>
      <p:sp>
        <p:nvSpPr>
          <p:cNvPr id="26" name="TextBox 25"/>
          <p:cNvSpPr txBox="1"/>
          <p:nvPr/>
        </p:nvSpPr>
        <p:spPr>
          <a:xfrm>
            <a:off x="1938528" y="5148072"/>
            <a:ext cx="8046720" cy="146304"/>
          </a:xfrm>
          <a:prstGeom prst="rect">
            <a:avLst/>
          </a:prstGeom>
          <a:noFill/>
        </p:spPr>
        <p:txBody>
          <a:bodyPr wrap="square" lIns="0" tIns="0" rIns="0" bIns="0" anchor="t">
            <a:spAutoFit/>
          </a:bodyPr>
          <a:lstStyle/>
          <a:p>
            <a:pPr algn="l"/>
            <a:r>
              <a:rPr sz="1250" b="0" i="0">
                <a:solidFill>
                  <a:srgbClr val="475569"/>
                </a:solidFill>
                <a:latin typeface="Segoe UI"/>
              </a:rPr>
              <a:t>Kiểm thử, mức hoàn thiện, hạn chế và hướng phát triển.</a:t>
            </a:r>
          </a:p>
        </p:txBody>
      </p:sp>
      <p:sp>
        <p:nvSpPr>
          <p:cNvPr id="27" name="Rounded Rectangle 26"/>
          <p:cNvSpPr/>
          <p:nvPr/>
        </p:nvSpPr>
        <p:spPr>
          <a:xfrm>
            <a:off x="914400" y="5852160"/>
            <a:ext cx="10287000" cy="384048"/>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43000" y="5952744"/>
            <a:ext cx="9875520" cy="146304"/>
          </a:xfrm>
          <a:prstGeom prst="rect">
            <a:avLst/>
          </a:prstGeom>
          <a:noFill/>
        </p:spPr>
        <p:txBody>
          <a:bodyPr wrap="square" lIns="0" tIns="0" rIns="0" bIns="0" anchor="t">
            <a:spAutoFit/>
          </a:bodyPr>
          <a:lstStyle/>
          <a:p>
            <a:pPr algn="l"/>
            <a:r>
              <a:rPr sz="1180" b="0" i="0">
                <a:solidFill>
                  <a:srgbClr val="FFFFFF"/>
                </a:solidFill>
                <a:latin typeface="Segoe UI"/>
              </a:rPr>
              <a:t>Kịch bản này phù hợp cho thời lượng báo cáo 12-15 phút nhưng vẫn đủ chiều sâu khi giảng viên hỏi kỹ về kiến trúc hoặc DevOps.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Bài toán và lý do chọn đề tài</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Đề tài xuất phát từ nhu cầu quản lý tài chính có hệ thống và có khả năng mở rộng sang bối cảnh gia đình.</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3</a:t>
            </a:r>
          </a:p>
        </p:txBody>
      </p:sp>
      <p:sp>
        <p:nvSpPr>
          <p:cNvPr id="7" name="Rounded Rectangle 6"/>
          <p:cNvSpPr/>
          <p:nvPr/>
        </p:nvSpPr>
        <p:spPr>
          <a:xfrm>
            <a:off x="822960" y="1572768"/>
            <a:ext cx="51663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572768"/>
            <a:ext cx="516636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737360"/>
            <a:ext cx="4800600" cy="164592"/>
          </a:xfrm>
          <a:prstGeom prst="rect">
            <a:avLst/>
          </a:prstGeom>
          <a:noFill/>
        </p:spPr>
        <p:txBody>
          <a:bodyPr wrap="square" lIns="0" tIns="0" rIns="0" bIns="0" anchor="t">
            <a:spAutoFit/>
          </a:bodyPr>
          <a:lstStyle/>
          <a:p>
            <a:pPr algn="l"/>
            <a:r>
              <a:rPr sz="1700" b="1" i="0">
                <a:solidFill>
                  <a:srgbClr val="0F172A"/>
                </a:solidFill>
                <a:latin typeface="Segoe UI"/>
              </a:rPr>
              <a:t>Vấn đề thực tế</a:t>
            </a:r>
          </a:p>
        </p:txBody>
      </p:sp>
      <p:sp>
        <p:nvSpPr>
          <p:cNvPr id="10" name="TextBox 9"/>
          <p:cNvSpPr txBox="1"/>
          <p:nvPr/>
        </p:nvSpPr>
        <p:spPr>
          <a:xfrm>
            <a:off x="1005840" y="2194560"/>
            <a:ext cx="4800600" cy="365760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Chi tiêu cá nhân thường được lưu rời rạc ở sổ tay, ghi chú hoặc nhiều ứng dụng nhỏ lẻ.</a:t>
            </a:r>
          </a:p>
          <a:p>
            <a:pPr>
              <a:spcAft>
                <a:spcPts val="500"/>
              </a:spcAft>
            </a:pPr>
            <a:r>
              <a:rPr sz="1420" b="1">
                <a:solidFill>
                  <a:srgbClr val="0EA5E9"/>
                </a:solidFill>
              </a:rPr>
              <a:t>• </a:t>
            </a:r>
            <a:r>
              <a:rPr sz="1420">
                <a:solidFill>
                  <a:srgbClr val="475569"/>
                </a:solidFill>
                <a:latin typeface="Segoe UI"/>
              </a:rPr>
              <a:t>Khi phát sinh quỹ chung gia đình, việc theo dõi thành viên đóng góp và khoản chi dùng chung trở nên khó minh bạch.</a:t>
            </a:r>
          </a:p>
          <a:p>
            <a:pPr>
              <a:spcAft>
                <a:spcPts val="500"/>
              </a:spcAft>
            </a:pPr>
            <a:r>
              <a:rPr sz="1420" b="1">
                <a:solidFill>
                  <a:srgbClr val="0EA5E9"/>
                </a:solidFill>
              </a:rPr>
              <a:t>• </a:t>
            </a:r>
            <a:r>
              <a:rPr sz="1420">
                <a:solidFill>
                  <a:srgbClr val="475569"/>
                </a:solidFill>
                <a:latin typeface="Segoe UI"/>
              </a:rPr>
              <a:t>Người dùng cần không chỉ CRUD giao dịch mà còn cần dashboard, mục tiêu, ngân sách và cảnh báo sớm.</a:t>
            </a:r>
          </a:p>
          <a:p>
            <a:pPr>
              <a:spcAft>
                <a:spcPts val="500"/>
              </a:spcAft>
            </a:pPr>
            <a:r>
              <a:rPr sz="1420" b="1">
                <a:solidFill>
                  <a:srgbClr val="0EA5E9"/>
                </a:solidFill>
              </a:rPr>
              <a:t>• </a:t>
            </a:r>
            <a:r>
              <a:rPr sz="1420">
                <a:solidFill>
                  <a:srgbClr val="475569"/>
                </a:solidFill>
                <a:latin typeface="Segoe UI"/>
              </a:rPr>
              <a:t>Đây là bài toán phù hợp để thể hiện năng lực full-stack và tư duy thiết kế hệ thống web thực tế.</a:t>
            </a:r>
          </a:p>
        </p:txBody>
      </p:sp>
      <p:sp>
        <p:nvSpPr>
          <p:cNvPr id="11" name="Rounded Rectangle 10"/>
          <p:cNvSpPr/>
          <p:nvPr/>
        </p:nvSpPr>
        <p:spPr>
          <a:xfrm>
            <a:off x="6263640" y="1572768"/>
            <a:ext cx="4937760"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65392" y="1847088"/>
            <a:ext cx="4297680" cy="182880"/>
          </a:xfrm>
          <a:prstGeom prst="rect">
            <a:avLst/>
          </a:prstGeom>
          <a:noFill/>
        </p:spPr>
        <p:txBody>
          <a:bodyPr wrap="square" lIns="0" tIns="0" rIns="0" bIns="0" anchor="t">
            <a:spAutoFit/>
          </a:bodyPr>
          <a:lstStyle/>
          <a:p>
            <a:pPr algn="l"/>
            <a:r>
              <a:rPr sz="1600" b="1" i="0">
                <a:solidFill>
                  <a:srgbClr val="FEF3C7"/>
                </a:solidFill>
                <a:latin typeface="Segoe UI"/>
              </a:rPr>
              <a:t>Thông điệp chính</a:t>
            </a:r>
          </a:p>
        </p:txBody>
      </p:sp>
      <p:sp>
        <p:nvSpPr>
          <p:cNvPr id="13" name="TextBox 12"/>
          <p:cNvSpPr txBox="1"/>
          <p:nvPr/>
        </p:nvSpPr>
        <p:spPr>
          <a:xfrm>
            <a:off x="6565392" y="2267712"/>
            <a:ext cx="4069080" cy="1426464"/>
          </a:xfrm>
          <a:prstGeom prst="rect">
            <a:avLst/>
          </a:prstGeom>
          <a:noFill/>
        </p:spPr>
        <p:txBody>
          <a:bodyPr wrap="square" lIns="0" tIns="0" rIns="0" bIns="0" anchor="t">
            <a:spAutoFit/>
          </a:bodyPr>
          <a:lstStyle/>
          <a:p>
            <a:pPr algn="l"/>
            <a:r>
              <a:rPr sz="2100" b="1" i="0">
                <a:solidFill>
                  <a:srgbClr val="FFFFFF"/>
                </a:solidFill>
                <a:latin typeface="Segoe UI"/>
              </a:rPr>
              <a:t>Junkio không chỉ là ứng dụng ghi chép thu chi, mà là một nền tảng quản lý tài chính với kiến trúc SPA, API chuẩn hóa, phân quyền, báo cáo và khả năng demo triển khai thực tế.</a:t>
            </a:r>
          </a:p>
        </p:txBody>
      </p:sp>
      <p:sp>
        <p:nvSpPr>
          <p:cNvPr id="14" name="Rounded Rectangle 13"/>
          <p:cNvSpPr/>
          <p:nvPr/>
        </p:nvSpPr>
        <p:spPr>
          <a:xfrm>
            <a:off x="6565392" y="4937760"/>
            <a:ext cx="694944" cy="310896"/>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4983480"/>
            <a:ext cx="694944" cy="146304"/>
          </a:xfrm>
          <a:prstGeom prst="rect">
            <a:avLst/>
          </a:prstGeom>
          <a:noFill/>
        </p:spPr>
        <p:txBody>
          <a:bodyPr wrap="square" lIns="0" tIns="0" rIns="0" bIns="0" anchor="t">
            <a:spAutoFit/>
          </a:bodyPr>
          <a:lstStyle/>
          <a:p>
            <a:pPr algn="ctr"/>
            <a:r>
              <a:rPr sz="1050" b="1" i="0">
                <a:solidFill>
                  <a:srgbClr val="0F172A"/>
                </a:solidFill>
                <a:latin typeface="Segoe UI"/>
              </a:rPr>
              <a:t>SPA</a:t>
            </a:r>
          </a:p>
        </p:txBody>
      </p:sp>
      <p:sp>
        <p:nvSpPr>
          <p:cNvPr id="16" name="Rounded Rectangle 15"/>
          <p:cNvSpPr/>
          <p:nvPr/>
        </p:nvSpPr>
        <p:spPr>
          <a:xfrm>
            <a:off x="7370064" y="4937760"/>
            <a:ext cx="1014984" cy="310896"/>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70064" y="4983480"/>
            <a:ext cx="1014984" cy="146304"/>
          </a:xfrm>
          <a:prstGeom prst="rect">
            <a:avLst/>
          </a:prstGeom>
          <a:noFill/>
        </p:spPr>
        <p:txBody>
          <a:bodyPr wrap="square" lIns="0" tIns="0" rIns="0" bIns="0" anchor="t">
            <a:spAutoFit/>
          </a:bodyPr>
          <a:lstStyle/>
          <a:p>
            <a:pPr algn="ctr"/>
            <a:r>
              <a:rPr sz="1050" b="1" i="0">
                <a:solidFill>
                  <a:srgbClr val="0F172A"/>
                </a:solidFill>
                <a:latin typeface="Segoe UI"/>
              </a:rPr>
              <a:t>REST API</a:t>
            </a:r>
          </a:p>
        </p:txBody>
      </p:sp>
      <p:sp>
        <p:nvSpPr>
          <p:cNvPr id="18" name="Rounded Rectangle 17"/>
          <p:cNvSpPr/>
          <p:nvPr/>
        </p:nvSpPr>
        <p:spPr>
          <a:xfrm>
            <a:off x="8494776" y="4937760"/>
            <a:ext cx="1014984" cy="310896"/>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94776" y="4983480"/>
            <a:ext cx="1014984" cy="146304"/>
          </a:xfrm>
          <a:prstGeom prst="rect">
            <a:avLst/>
          </a:prstGeom>
          <a:noFill/>
        </p:spPr>
        <p:txBody>
          <a:bodyPr wrap="square" lIns="0" tIns="0" rIns="0" bIns="0" anchor="t">
            <a:spAutoFit/>
          </a:bodyPr>
          <a:lstStyle/>
          <a:p>
            <a:pPr algn="ctr"/>
            <a:r>
              <a:rPr sz="1050" b="1" i="0">
                <a:solidFill>
                  <a:srgbClr val="0F172A"/>
                </a:solidFill>
                <a:latin typeface="Segoe UI"/>
              </a:rPr>
              <a:t>Realtime</a:t>
            </a:r>
          </a:p>
        </p:txBody>
      </p:sp>
      <p:sp>
        <p:nvSpPr>
          <p:cNvPr id="20" name="Rounded Rectangle 19"/>
          <p:cNvSpPr/>
          <p:nvPr/>
        </p:nvSpPr>
        <p:spPr>
          <a:xfrm>
            <a:off x="9619488" y="4937760"/>
            <a:ext cx="886968" cy="310896"/>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19488" y="4983480"/>
            <a:ext cx="886968" cy="146304"/>
          </a:xfrm>
          <a:prstGeom prst="rect">
            <a:avLst/>
          </a:prstGeom>
          <a:noFill/>
        </p:spPr>
        <p:txBody>
          <a:bodyPr wrap="square" lIns="0" tIns="0" rIns="0" bIns="0" anchor="t">
            <a:spAutoFit/>
          </a:bodyPr>
          <a:lstStyle/>
          <a:p>
            <a:pPr algn="ctr"/>
            <a:r>
              <a:rPr sz="1050" b="1" i="0">
                <a:solidFill>
                  <a:srgbClr val="0F172A"/>
                </a:solidFill>
                <a:latin typeface="Segoe UI"/>
              </a:rPr>
              <a:t>Docker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Mục tiêu và phạm vi hệ thống</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Slide này giúp hội đồng thấy rõ đề tài đang làm gì, làm đến đâu và phạm vi kỹ thuật được bao phủ.</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4</a:t>
            </a:r>
          </a:p>
        </p:txBody>
      </p:sp>
      <p:sp>
        <p:nvSpPr>
          <p:cNvPr id="7" name="Rounded Rectangle 6"/>
          <p:cNvSpPr/>
          <p:nvPr/>
        </p:nvSpPr>
        <p:spPr>
          <a:xfrm>
            <a:off x="822960" y="1600200"/>
            <a:ext cx="365760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00200"/>
            <a:ext cx="365760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764792"/>
            <a:ext cx="3291840" cy="164592"/>
          </a:xfrm>
          <a:prstGeom prst="rect">
            <a:avLst/>
          </a:prstGeom>
          <a:noFill/>
        </p:spPr>
        <p:txBody>
          <a:bodyPr wrap="square" lIns="0" tIns="0" rIns="0" bIns="0" anchor="t">
            <a:spAutoFit/>
          </a:bodyPr>
          <a:lstStyle/>
          <a:p>
            <a:pPr algn="l"/>
            <a:r>
              <a:rPr sz="1700" b="1" i="0">
                <a:solidFill>
                  <a:srgbClr val="0F172A"/>
                </a:solidFill>
                <a:latin typeface="Segoe UI"/>
              </a:rPr>
              <a:t>Mục tiêu chính</a:t>
            </a:r>
          </a:p>
        </p:txBody>
      </p:sp>
      <p:sp>
        <p:nvSpPr>
          <p:cNvPr id="10" name="TextBox 9"/>
          <p:cNvSpPr txBox="1"/>
          <p:nvPr/>
        </p:nvSpPr>
        <p:spPr>
          <a:xfrm>
            <a:off x="1005840" y="2221992"/>
            <a:ext cx="3291840" cy="352044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Tách biệt frontend và backend theo mô hình client-server.</a:t>
            </a:r>
          </a:p>
          <a:p>
            <a:pPr>
              <a:spcAft>
                <a:spcPts val="500"/>
              </a:spcAft>
            </a:pPr>
            <a:r>
              <a:rPr sz="1420" b="1">
                <a:solidFill>
                  <a:srgbClr val="0EA5E9"/>
                </a:solidFill>
              </a:rPr>
              <a:t>• </a:t>
            </a:r>
            <a:r>
              <a:rPr sz="1420">
                <a:solidFill>
                  <a:srgbClr val="475569"/>
                </a:solidFill>
                <a:latin typeface="Segoe UI"/>
              </a:rPr>
              <a:t>Quản lý giao dịch, ví, ngân sách, mục tiêu, gia đình và thông báo.</a:t>
            </a:r>
          </a:p>
          <a:p>
            <a:pPr>
              <a:spcAft>
                <a:spcPts val="500"/>
              </a:spcAft>
            </a:pPr>
            <a:r>
              <a:rPr sz="1420" b="1">
                <a:solidFill>
                  <a:srgbClr val="0EA5E9"/>
                </a:solidFill>
              </a:rPr>
              <a:t>• </a:t>
            </a:r>
            <a:r>
              <a:rPr sz="1420">
                <a:solidFill>
                  <a:srgbClr val="475569"/>
                </a:solidFill>
                <a:latin typeface="Segoe UI"/>
              </a:rPr>
              <a:t>Đảm bảo xác thực, phân quyền và validation dữ liệu.</a:t>
            </a:r>
          </a:p>
          <a:p>
            <a:pPr>
              <a:spcAft>
                <a:spcPts val="500"/>
              </a:spcAft>
            </a:pPr>
            <a:r>
              <a:rPr sz="1420" b="1">
                <a:solidFill>
                  <a:srgbClr val="0EA5E9"/>
                </a:solidFill>
              </a:rPr>
              <a:t>• </a:t>
            </a:r>
            <a:r>
              <a:rPr sz="1420">
                <a:solidFill>
                  <a:srgbClr val="475569"/>
                </a:solidFill>
                <a:latin typeface="Segoe UI"/>
              </a:rPr>
              <a:t>Có dashboard để trực quan hóa số liệu tài chính.</a:t>
            </a:r>
          </a:p>
        </p:txBody>
      </p:sp>
      <p:sp>
        <p:nvSpPr>
          <p:cNvPr id="11" name="Rounded Rectangle 10"/>
          <p:cNvSpPr/>
          <p:nvPr/>
        </p:nvSpPr>
        <p:spPr>
          <a:xfrm>
            <a:off x="4553712" y="1600200"/>
            <a:ext cx="324612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53712" y="1600200"/>
            <a:ext cx="324612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36592" y="1764792"/>
            <a:ext cx="2880360" cy="164592"/>
          </a:xfrm>
          <a:prstGeom prst="rect">
            <a:avLst/>
          </a:prstGeom>
          <a:noFill/>
        </p:spPr>
        <p:txBody>
          <a:bodyPr wrap="square" lIns="0" tIns="0" rIns="0" bIns="0" anchor="t">
            <a:spAutoFit/>
          </a:bodyPr>
          <a:lstStyle/>
          <a:p>
            <a:pPr algn="l"/>
            <a:r>
              <a:rPr sz="1700" b="1" i="0">
                <a:solidFill>
                  <a:srgbClr val="0F172A"/>
                </a:solidFill>
                <a:latin typeface="Segoe UI"/>
              </a:rPr>
              <a:t>Phạm vi kỹ thuật</a:t>
            </a:r>
          </a:p>
        </p:txBody>
      </p:sp>
      <p:sp>
        <p:nvSpPr>
          <p:cNvPr id="14" name="TextBox 13"/>
          <p:cNvSpPr txBox="1"/>
          <p:nvPr/>
        </p:nvSpPr>
        <p:spPr>
          <a:xfrm>
            <a:off x="4736592" y="2221992"/>
            <a:ext cx="2880360" cy="352044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Frontend SPA với routing phía client.</a:t>
            </a:r>
          </a:p>
          <a:p>
            <a:pPr>
              <a:spcAft>
                <a:spcPts val="500"/>
              </a:spcAft>
            </a:pPr>
            <a:r>
              <a:rPr sz="1420" b="1">
                <a:solidFill>
                  <a:srgbClr val="14B8A6"/>
                </a:solidFill>
              </a:rPr>
              <a:t>• </a:t>
            </a:r>
            <a:r>
              <a:rPr sz="1420">
                <a:solidFill>
                  <a:srgbClr val="475569"/>
                </a:solidFill>
                <a:latin typeface="Segoe UI"/>
              </a:rPr>
              <a:t>Backend RESTful API trả JSON.</a:t>
            </a:r>
          </a:p>
          <a:p>
            <a:pPr>
              <a:spcAft>
                <a:spcPts val="500"/>
              </a:spcAft>
            </a:pPr>
            <a:r>
              <a:rPr sz="1420" b="1">
                <a:solidFill>
                  <a:srgbClr val="14B8A6"/>
                </a:solidFill>
              </a:rPr>
              <a:t>• </a:t>
            </a:r>
            <a:r>
              <a:rPr sz="1420">
                <a:solidFill>
                  <a:srgbClr val="475569"/>
                </a:solidFill>
                <a:latin typeface="Segoe UI"/>
              </a:rPr>
              <a:t>PostgreSQL làm hệ quản trị dữ liệu chính.</a:t>
            </a:r>
          </a:p>
          <a:p>
            <a:pPr>
              <a:spcAft>
                <a:spcPts val="500"/>
              </a:spcAft>
            </a:pPr>
            <a:r>
              <a:rPr sz="1420" b="1">
                <a:solidFill>
                  <a:srgbClr val="14B8A6"/>
                </a:solidFill>
              </a:rPr>
              <a:t>• </a:t>
            </a:r>
            <a:r>
              <a:rPr sz="1420">
                <a:solidFill>
                  <a:srgbClr val="475569"/>
                </a:solidFill>
                <a:latin typeface="Segoe UI"/>
              </a:rPr>
              <a:t>Redis và Socket.IO phục vụ cache/realtime.</a:t>
            </a:r>
          </a:p>
        </p:txBody>
      </p:sp>
      <p:sp>
        <p:nvSpPr>
          <p:cNvPr id="15" name="Rounded Rectangle 14"/>
          <p:cNvSpPr/>
          <p:nvPr/>
        </p:nvSpPr>
        <p:spPr>
          <a:xfrm>
            <a:off x="7882127" y="1600200"/>
            <a:ext cx="324612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882127" y="1600200"/>
            <a:ext cx="324612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65007" y="1764792"/>
            <a:ext cx="2880360" cy="164592"/>
          </a:xfrm>
          <a:prstGeom prst="rect">
            <a:avLst/>
          </a:prstGeom>
          <a:noFill/>
        </p:spPr>
        <p:txBody>
          <a:bodyPr wrap="square" lIns="0" tIns="0" rIns="0" bIns="0" anchor="t">
            <a:spAutoFit/>
          </a:bodyPr>
          <a:lstStyle/>
          <a:p>
            <a:pPr algn="l"/>
            <a:r>
              <a:rPr sz="1700" b="1" i="0">
                <a:solidFill>
                  <a:srgbClr val="0F172A"/>
                </a:solidFill>
                <a:latin typeface="Segoe UI"/>
              </a:rPr>
              <a:t>Tiêu chí hoàn thiện</a:t>
            </a:r>
          </a:p>
        </p:txBody>
      </p:sp>
      <p:sp>
        <p:nvSpPr>
          <p:cNvPr id="18" name="TextBox 17"/>
          <p:cNvSpPr txBox="1"/>
          <p:nvPr/>
        </p:nvSpPr>
        <p:spPr>
          <a:xfrm>
            <a:off x="8065007" y="2221992"/>
            <a:ext cx="2880360" cy="352044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Chạy ổn định khi demo.</a:t>
            </a:r>
          </a:p>
          <a:p>
            <a:pPr>
              <a:spcAft>
                <a:spcPts val="500"/>
              </a:spcAft>
            </a:pPr>
            <a:r>
              <a:rPr sz="1420" b="1">
                <a:solidFill>
                  <a:srgbClr val="F59E0B"/>
                </a:solidFill>
              </a:rPr>
              <a:t>• </a:t>
            </a:r>
            <a:r>
              <a:rPr sz="1420">
                <a:solidFill>
                  <a:srgbClr val="475569"/>
                </a:solidFill>
                <a:latin typeface="Segoe UI"/>
              </a:rPr>
              <a:t>Có Docker Compose để dựng toàn hệ thống.</a:t>
            </a:r>
          </a:p>
          <a:p>
            <a:pPr>
              <a:spcAft>
                <a:spcPts val="500"/>
              </a:spcAft>
            </a:pPr>
            <a:r>
              <a:rPr sz="1420" b="1">
                <a:solidFill>
                  <a:srgbClr val="F59E0B"/>
                </a:solidFill>
              </a:rPr>
              <a:t>• </a:t>
            </a:r>
            <a:r>
              <a:rPr sz="1420">
                <a:solidFill>
                  <a:srgbClr val="475569"/>
                </a:solidFill>
                <a:latin typeface="Segoe UI"/>
              </a:rPr>
              <a:t>Có test và tài liệu API để minh chứng.</a:t>
            </a:r>
          </a:p>
          <a:p>
            <a:pPr>
              <a:spcAft>
                <a:spcPts val="500"/>
              </a:spcAft>
            </a:pPr>
            <a:r>
              <a:rPr sz="1420" b="1">
                <a:solidFill>
                  <a:srgbClr val="F59E0B"/>
                </a:solidFill>
              </a:rPr>
              <a:t>• </a:t>
            </a:r>
            <a:r>
              <a:rPr sz="1420">
                <a:solidFill>
                  <a:srgbClr val="475569"/>
                </a:solidFill>
                <a:latin typeface="Segoe UI"/>
              </a:rPr>
              <a:t>Có thể trình diễn được luồng nghiệp vụ thật.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Đối chiếu với yêu cầu môn học</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Ba mốc báo cáo đều đã được gom lại thành các nhóm năng lực chính: frontend, API, integration và DevOps.</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5</a:t>
            </a:r>
          </a:p>
        </p:txBody>
      </p:sp>
      <p:sp>
        <p:nvSpPr>
          <p:cNvPr id="7" name="Rounded Rectangle 6"/>
          <p:cNvSpPr/>
          <p:nvPr/>
        </p:nvSpPr>
        <p:spPr>
          <a:xfrm>
            <a:off x="786384" y="1554480"/>
            <a:ext cx="315468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92224"/>
            <a:ext cx="2286000" cy="182880"/>
          </a:xfrm>
          <a:prstGeom prst="rect">
            <a:avLst/>
          </a:prstGeom>
          <a:noFill/>
        </p:spPr>
        <p:txBody>
          <a:bodyPr wrap="square" lIns="0" tIns="0" rIns="0" bIns="0" anchor="t">
            <a:spAutoFit/>
          </a:bodyPr>
          <a:lstStyle/>
          <a:p>
            <a:pPr algn="l"/>
            <a:r>
              <a:rPr sz="1800" b="1" i="0">
                <a:solidFill>
                  <a:srgbClr val="0F172A"/>
                </a:solidFill>
                <a:latin typeface="Segoe UI"/>
              </a:rPr>
              <a:t>Nhóm yêu cầu chính</a:t>
            </a:r>
          </a:p>
        </p:txBody>
      </p:sp>
      <p:sp>
        <p:nvSpPr>
          <p:cNvPr id="9" name="TextBox 8"/>
          <p:cNvSpPr txBox="1"/>
          <p:nvPr/>
        </p:nvSpPr>
        <p:spPr>
          <a:xfrm>
            <a:off x="1005840" y="2139696"/>
            <a:ext cx="2560320" cy="3657600"/>
          </a:xfrm>
          <a:prstGeom prst="rect">
            <a:avLst/>
          </a:prstGeom>
          <a:noFill/>
        </p:spPr>
        <p:txBody>
          <a:bodyPr wrap="square">
            <a:spAutoFit/>
          </a:bodyPr>
          <a:lstStyle/>
          <a:p>
            <a:pPr>
              <a:spcAft>
                <a:spcPts val="500"/>
              </a:spcAft>
            </a:pPr>
            <a:r>
              <a:rPr sz="1520" b="1">
                <a:solidFill>
                  <a:srgbClr val="22C55E"/>
                </a:solidFill>
              </a:rPr>
              <a:t>• </a:t>
            </a:r>
            <a:r>
              <a:rPr sz="1520">
                <a:solidFill>
                  <a:srgbClr val="475569"/>
                </a:solidFill>
                <a:latin typeface="Segoe UI"/>
              </a:rPr>
              <a:t>Frontend theo hướng SPA, responsive và chia component tái sử dụng.</a:t>
            </a:r>
          </a:p>
          <a:p>
            <a:pPr>
              <a:spcAft>
                <a:spcPts val="500"/>
              </a:spcAft>
            </a:pPr>
            <a:r>
              <a:rPr sz="1520" b="1">
                <a:solidFill>
                  <a:srgbClr val="22C55E"/>
                </a:solidFill>
              </a:rPr>
              <a:t>• </a:t>
            </a:r>
            <a:r>
              <a:rPr sz="1520">
                <a:solidFill>
                  <a:srgbClr val="475569"/>
                </a:solidFill>
                <a:latin typeface="Segoe UI"/>
              </a:rPr>
              <a:t>Backend có RESTful API, JWT, validation và RBAC.</a:t>
            </a:r>
          </a:p>
          <a:p>
            <a:pPr>
              <a:spcAft>
                <a:spcPts val="500"/>
              </a:spcAft>
            </a:pPr>
            <a:r>
              <a:rPr sz="1520" b="1">
                <a:solidFill>
                  <a:srgbClr val="22C55E"/>
                </a:solidFill>
              </a:rPr>
              <a:t>• </a:t>
            </a:r>
            <a:r>
              <a:rPr sz="1520">
                <a:solidFill>
                  <a:srgbClr val="475569"/>
                </a:solidFill>
                <a:latin typeface="Segoe UI"/>
              </a:rPr>
              <a:t>Có tích hợp từ giao diện web đến database thực tế.</a:t>
            </a:r>
          </a:p>
          <a:p>
            <a:pPr>
              <a:spcAft>
                <a:spcPts val="500"/>
              </a:spcAft>
            </a:pPr>
            <a:r>
              <a:rPr sz="1520" b="1">
                <a:solidFill>
                  <a:srgbClr val="22C55E"/>
                </a:solidFill>
              </a:rPr>
              <a:t>• </a:t>
            </a:r>
            <a:r>
              <a:rPr sz="1520">
                <a:solidFill>
                  <a:srgbClr val="475569"/>
                </a:solidFill>
                <a:latin typeface="Segoe UI"/>
              </a:rPr>
              <a:t>Có Docker, Swagger/Postman và báo cáo dashboard.</a:t>
            </a:r>
          </a:p>
          <a:p>
            <a:pPr>
              <a:spcAft>
                <a:spcPts val="500"/>
              </a:spcAft>
            </a:pPr>
            <a:r>
              <a:rPr sz="1520" b="1">
                <a:solidFill>
                  <a:srgbClr val="22C55E"/>
                </a:solidFill>
              </a:rPr>
              <a:t>• </a:t>
            </a:r>
            <a:r>
              <a:rPr sz="1520">
                <a:solidFill>
                  <a:srgbClr val="475569"/>
                </a:solidFill>
                <a:latin typeface="Segoe UI"/>
              </a:rPr>
              <a:t>Có thể trình diễn 'one click' với docker compose.</a:t>
            </a:r>
          </a:p>
        </p:txBody>
      </p:sp>
      <p:sp>
        <p:nvSpPr>
          <p:cNvPr id="10" name="Rounded Rectangle 9"/>
          <p:cNvSpPr/>
          <p:nvPr/>
        </p:nvSpPr>
        <p:spPr>
          <a:xfrm>
            <a:off x="4169663" y="1554480"/>
            <a:ext cx="352044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yc2.png"/>
          <p:cNvPicPr>
            <a:picLocks noChangeAspect="1"/>
          </p:cNvPicPr>
          <p:nvPr/>
        </p:nvPicPr>
        <p:blipFill>
          <a:blip r:embed="rId2"/>
          <a:stretch>
            <a:fillRect/>
          </a:stretch>
        </p:blipFill>
        <p:spPr>
          <a:xfrm>
            <a:off x="4355485" y="1664208"/>
            <a:ext cx="3148795" cy="1719072"/>
          </a:xfrm>
          <a:prstGeom prst="rect">
            <a:avLst/>
          </a:prstGeom>
        </p:spPr>
      </p:pic>
      <p:sp>
        <p:nvSpPr>
          <p:cNvPr id="12" name="TextBox 11"/>
          <p:cNvSpPr txBox="1"/>
          <p:nvPr/>
        </p:nvSpPr>
        <p:spPr>
          <a:xfrm>
            <a:off x="4297679" y="3483864"/>
            <a:ext cx="3264408" cy="128016"/>
          </a:xfrm>
          <a:prstGeom prst="rect">
            <a:avLst/>
          </a:prstGeom>
          <a:noFill/>
        </p:spPr>
        <p:txBody>
          <a:bodyPr wrap="square" lIns="0" tIns="0" rIns="0" bIns="0" anchor="t">
            <a:spAutoFit/>
          </a:bodyPr>
          <a:lstStyle/>
          <a:p>
            <a:pPr algn="ctr"/>
            <a:r>
              <a:rPr sz="1050" b="1" i="0">
                <a:solidFill>
                  <a:srgbClr val="64748B"/>
                </a:solidFill>
                <a:latin typeface="Segoe UI"/>
              </a:rPr>
              <a:t>Mốc frontend và component</a:t>
            </a:r>
          </a:p>
        </p:txBody>
      </p:sp>
      <p:sp>
        <p:nvSpPr>
          <p:cNvPr id="13" name="Rounded Rectangle 12"/>
          <p:cNvSpPr/>
          <p:nvPr/>
        </p:nvSpPr>
        <p:spPr>
          <a:xfrm>
            <a:off x="7882127" y="1554480"/>
            <a:ext cx="32461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yc3.jpg"/>
          <p:cNvPicPr>
            <a:picLocks noChangeAspect="1"/>
          </p:cNvPicPr>
          <p:nvPr/>
        </p:nvPicPr>
        <p:blipFill>
          <a:blip r:embed="rId3"/>
          <a:stretch>
            <a:fillRect/>
          </a:stretch>
        </p:blipFill>
        <p:spPr>
          <a:xfrm>
            <a:off x="7991855" y="1697546"/>
            <a:ext cx="3026664" cy="1652394"/>
          </a:xfrm>
          <a:prstGeom prst="rect">
            <a:avLst/>
          </a:prstGeom>
        </p:spPr>
      </p:pic>
      <p:sp>
        <p:nvSpPr>
          <p:cNvPr id="15" name="TextBox 14"/>
          <p:cNvSpPr txBox="1"/>
          <p:nvPr/>
        </p:nvSpPr>
        <p:spPr>
          <a:xfrm>
            <a:off x="8010143" y="3483864"/>
            <a:ext cx="2990088" cy="128016"/>
          </a:xfrm>
          <a:prstGeom prst="rect">
            <a:avLst/>
          </a:prstGeom>
          <a:noFill/>
        </p:spPr>
        <p:txBody>
          <a:bodyPr wrap="square" lIns="0" tIns="0" rIns="0" bIns="0" anchor="t">
            <a:spAutoFit/>
          </a:bodyPr>
          <a:lstStyle/>
          <a:p>
            <a:pPr algn="ctr"/>
            <a:r>
              <a:rPr sz="1050" b="1" i="0">
                <a:solidFill>
                  <a:srgbClr val="64748B"/>
                </a:solidFill>
                <a:latin typeface="Segoe UI"/>
              </a:rPr>
              <a:t>Mốc API, Auth, Integration</a:t>
            </a:r>
          </a:p>
        </p:txBody>
      </p:sp>
      <p:sp>
        <p:nvSpPr>
          <p:cNvPr id="16" name="Rounded Rectangle 15"/>
          <p:cNvSpPr/>
          <p:nvPr/>
        </p:nvSpPr>
        <p:spPr>
          <a:xfrm>
            <a:off x="4169663" y="3913632"/>
            <a:ext cx="6958584" cy="21671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yc4.jpg"/>
          <p:cNvPicPr>
            <a:picLocks noChangeAspect="1"/>
          </p:cNvPicPr>
          <p:nvPr/>
        </p:nvPicPr>
        <p:blipFill>
          <a:blip r:embed="rId4"/>
          <a:stretch>
            <a:fillRect/>
          </a:stretch>
        </p:blipFill>
        <p:spPr>
          <a:xfrm>
            <a:off x="5905043" y="4023360"/>
            <a:ext cx="3487822" cy="1737360"/>
          </a:xfrm>
          <a:prstGeom prst="rect">
            <a:avLst/>
          </a:prstGeom>
        </p:spPr>
      </p:pic>
      <p:sp>
        <p:nvSpPr>
          <p:cNvPr id="18" name="TextBox 17"/>
          <p:cNvSpPr txBox="1"/>
          <p:nvPr/>
        </p:nvSpPr>
        <p:spPr>
          <a:xfrm>
            <a:off x="4297679" y="5861304"/>
            <a:ext cx="6702552" cy="128016"/>
          </a:xfrm>
          <a:prstGeom prst="rect">
            <a:avLst/>
          </a:prstGeom>
          <a:noFill/>
        </p:spPr>
        <p:txBody>
          <a:bodyPr wrap="square" lIns="0" tIns="0" rIns="0" bIns="0" anchor="t">
            <a:spAutoFit/>
          </a:bodyPr>
          <a:lstStyle/>
          <a:p>
            <a:pPr algn="ctr"/>
            <a:r>
              <a:rPr sz="1050" b="1" i="0">
                <a:solidFill>
                  <a:srgbClr val="64748B"/>
                </a:solidFill>
                <a:latin typeface="Segoe UI"/>
              </a:rPr>
              <a:t>Mốc Dockerization và báo cáo tổng kết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Kiến trúc tổng thể hệ thống</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Kiến trúc được triển khai theo mô hình nhiều service, mỗi thành phần có trách nhiệm rõ ràng.</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6</a:t>
            </a:r>
          </a:p>
        </p:txBody>
      </p:sp>
      <p:sp>
        <p:nvSpPr>
          <p:cNvPr id="7" name="Rounded Rectangle 6"/>
          <p:cNvSpPr/>
          <p:nvPr/>
        </p:nvSpPr>
        <p:spPr>
          <a:xfrm>
            <a:off x="868680" y="2148840"/>
            <a:ext cx="1417320" cy="658368"/>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3544" y="2331720"/>
            <a:ext cx="1307592" cy="438912"/>
          </a:xfrm>
          <a:prstGeom prst="rect">
            <a:avLst/>
          </a:prstGeom>
          <a:noFill/>
        </p:spPr>
        <p:txBody>
          <a:bodyPr wrap="square" lIns="0" tIns="0" rIns="0" bIns="0" anchor="t">
            <a:spAutoFit/>
          </a:bodyPr>
          <a:lstStyle/>
          <a:p>
            <a:pPr algn="ctr"/>
            <a:r>
              <a:rPr sz="1550" b="1" i="0">
                <a:solidFill>
                  <a:srgbClr val="0F172A"/>
                </a:solidFill>
                <a:latin typeface="Segoe UI"/>
              </a:rPr>
              <a:t>Browser</a:t>
            </a:r>
          </a:p>
        </p:txBody>
      </p:sp>
      <p:sp>
        <p:nvSpPr>
          <p:cNvPr id="9" name="Rounded Rectangle 8"/>
          <p:cNvSpPr/>
          <p:nvPr/>
        </p:nvSpPr>
        <p:spPr>
          <a:xfrm>
            <a:off x="2651760" y="1737360"/>
            <a:ext cx="2011680" cy="868680"/>
          </a:xfrm>
          <a:prstGeom prst="roundRect">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06624" y="1920240"/>
            <a:ext cx="1901952" cy="649224"/>
          </a:xfrm>
          <a:prstGeom prst="rect">
            <a:avLst/>
          </a:prstGeom>
          <a:noFill/>
        </p:spPr>
        <p:txBody>
          <a:bodyPr wrap="square" lIns="0" tIns="0" rIns="0" bIns="0" anchor="t">
            <a:spAutoFit/>
          </a:bodyPr>
          <a:lstStyle/>
          <a:p>
            <a:pPr algn="ctr"/>
            <a:r>
              <a:rPr sz="1550" b="1" i="0">
                <a:solidFill>
                  <a:srgbClr val="0F172A"/>
                </a:solidFill>
                <a:latin typeface="Segoe UI"/>
              </a:rPr>
              <a:t>Frontend</a:t>
            </a:r>
            <a:br/>
            <a:r>
              <a:t>React + Vite</a:t>
            </a:r>
          </a:p>
        </p:txBody>
      </p:sp>
      <p:sp>
        <p:nvSpPr>
          <p:cNvPr id="11" name="Rounded Rectangle 10"/>
          <p:cNvSpPr/>
          <p:nvPr/>
        </p:nvSpPr>
        <p:spPr>
          <a:xfrm>
            <a:off x="2651760" y="3017520"/>
            <a:ext cx="2011680" cy="868680"/>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3200400"/>
            <a:ext cx="1901952" cy="649224"/>
          </a:xfrm>
          <a:prstGeom prst="rect">
            <a:avLst/>
          </a:prstGeom>
          <a:noFill/>
        </p:spPr>
        <p:txBody>
          <a:bodyPr wrap="square" lIns="0" tIns="0" rIns="0" bIns="0" anchor="t">
            <a:spAutoFit/>
          </a:bodyPr>
          <a:lstStyle/>
          <a:p>
            <a:pPr algn="ctr"/>
            <a:r>
              <a:rPr sz="1550" b="1" i="0">
                <a:solidFill>
                  <a:srgbClr val="0F172A"/>
                </a:solidFill>
                <a:latin typeface="Segoe UI"/>
              </a:rPr>
              <a:t>Nginx</a:t>
            </a:r>
            <a:br/>
            <a:r>
              <a:t>Static + Proxy</a:t>
            </a:r>
          </a:p>
        </p:txBody>
      </p:sp>
      <p:sp>
        <p:nvSpPr>
          <p:cNvPr id="13" name="Rounded Rectangle 12"/>
          <p:cNvSpPr/>
          <p:nvPr/>
        </p:nvSpPr>
        <p:spPr>
          <a:xfrm>
            <a:off x="5440680" y="2331720"/>
            <a:ext cx="2194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95544" y="2514600"/>
            <a:ext cx="2084831" cy="740664"/>
          </a:xfrm>
          <a:prstGeom prst="rect">
            <a:avLst/>
          </a:prstGeom>
          <a:noFill/>
        </p:spPr>
        <p:txBody>
          <a:bodyPr wrap="square" lIns="0" tIns="0" rIns="0" bIns="0" anchor="t">
            <a:spAutoFit/>
          </a:bodyPr>
          <a:lstStyle/>
          <a:p>
            <a:pPr algn="ctr"/>
            <a:r>
              <a:rPr sz="1550" b="1" i="0">
                <a:solidFill>
                  <a:srgbClr val="0F172A"/>
                </a:solidFill>
                <a:latin typeface="Segoe UI"/>
              </a:rPr>
              <a:t>Backend API</a:t>
            </a:r>
            <a:br/>
            <a:r>
              <a:t>Node.js + Express</a:t>
            </a:r>
          </a:p>
        </p:txBody>
      </p:sp>
      <p:sp>
        <p:nvSpPr>
          <p:cNvPr id="15" name="Rounded Rectangle 14"/>
          <p:cNvSpPr/>
          <p:nvPr/>
        </p:nvSpPr>
        <p:spPr>
          <a:xfrm>
            <a:off x="8503920" y="1700784"/>
            <a:ext cx="1965960" cy="77724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58784" y="1883664"/>
            <a:ext cx="1856231" cy="557784"/>
          </a:xfrm>
          <a:prstGeom prst="rect">
            <a:avLst/>
          </a:prstGeom>
          <a:noFill/>
        </p:spPr>
        <p:txBody>
          <a:bodyPr wrap="square" lIns="0" tIns="0" rIns="0" bIns="0" anchor="t">
            <a:spAutoFit/>
          </a:bodyPr>
          <a:lstStyle/>
          <a:p>
            <a:pPr algn="ctr"/>
            <a:r>
              <a:rPr sz="1550" b="1" i="0">
                <a:solidFill>
                  <a:srgbClr val="0F172A"/>
                </a:solidFill>
                <a:latin typeface="Segoe UI"/>
              </a:rPr>
              <a:t>PostgreSQL</a:t>
            </a:r>
          </a:p>
        </p:txBody>
      </p:sp>
      <p:sp>
        <p:nvSpPr>
          <p:cNvPr id="17" name="Rounded Rectangle 16"/>
          <p:cNvSpPr/>
          <p:nvPr/>
        </p:nvSpPr>
        <p:spPr>
          <a:xfrm>
            <a:off x="8503920" y="2944368"/>
            <a:ext cx="1965960" cy="777240"/>
          </a:xfrm>
          <a:prstGeom prst="roundRect">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58784" y="3127248"/>
            <a:ext cx="1856231" cy="557784"/>
          </a:xfrm>
          <a:prstGeom prst="rect">
            <a:avLst/>
          </a:prstGeom>
          <a:noFill/>
        </p:spPr>
        <p:txBody>
          <a:bodyPr wrap="square" lIns="0" tIns="0" rIns="0" bIns="0" anchor="t">
            <a:spAutoFit/>
          </a:bodyPr>
          <a:lstStyle/>
          <a:p>
            <a:pPr algn="ctr"/>
            <a:r>
              <a:rPr sz="1550" b="1" i="0">
                <a:solidFill>
                  <a:srgbClr val="0F172A"/>
                </a:solidFill>
                <a:latin typeface="Segoe UI"/>
              </a:rPr>
              <a:t>Redis</a:t>
            </a:r>
          </a:p>
        </p:txBody>
      </p:sp>
      <p:sp>
        <p:nvSpPr>
          <p:cNvPr id="19" name="Rounded Rectangle 18"/>
          <p:cNvSpPr/>
          <p:nvPr/>
        </p:nvSpPr>
        <p:spPr>
          <a:xfrm>
            <a:off x="8302752" y="4224528"/>
            <a:ext cx="2359152" cy="777240"/>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57616" y="4407408"/>
            <a:ext cx="2249424" cy="557784"/>
          </a:xfrm>
          <a:prstGeom prst="rect">
            <a:avLst/>
          </a:prstGeom>
          <a:noFill/>
        </p:spPr>
        <p:txBody>
          <a:bodyPr wrap="square" lIns="0" tIns="0" rIns="0" bIns="0" anchor="t">
            <a:spAutoFit/>
          </a:bodyPr>
          <a:lstStyle/>
          <a:p>
            <a:pPr algn="ctr"/>
            <a:r>
              <a:rPr sz="1550" b="1" i="0">
                <a:solidFill>
                  <a:srgbClr val="0F172A"/>
                </a:solidFill>
                <a:latin typeface="Segoe UI"/>
              </a:rPr>
              <a:t>Swagger / Postman</a:t>
            </a:r>
          </a:p>
        </p:txBody>
      </p:sp>
      <p:cxnSp>
        <p:nvCxnSpPr>
          <p:cNvPr id="21" name="Connector 20"/>
          <p:cNvCxnSpPr/>
          <p:nvPr/>
        </p:nvCxnSpPr>
        <p:spPr>
          <a:xfrm flipV="1">
            <a:off x="2286000" y="2176272"/>
            <a:ext cx="365760" cy="310896"/>
          </a:xfrm>
          <a:prstGeom prst="line">
            <a:avLst/>
          </a:prstGeom>
          <a:ln w="22225">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286000" y="2487168"/>
            <a:ext cx="365760" cy="969264"/>
          </a:xfrm>
          <a:prstGeom prst="line">
            <a:avLst/>
          </a:prstGeom>
          <a:ln w="22225">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63440" y="2176272"/>
            <a:ext cx="777240" cy="548640"/>
          </a:xfrm>
          <a:prstGeom prst="line">
            <a:avLst/>
          </a:prstGeom>
          <a:ln w="22225">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663440" y="2907792"/>
            <a:ext cx="777240" cy="548640"/>
          </a:xfrm>
          <a:prstGeom prst="line">
            <a:avLst/>
          </a:prstGeom>
          <a:ln w="22225">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635240" y="2084831"/>
            <a:ext cx="868680" cy="640081"/>
          </a:xfrm>
          <a:prstGeom prst="line">
            <a:avLst/>
          </a:prstGeom>
          <a:ln w="22225">
            <a:solidFill>
              <a:srgbClr val="0EA5E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635240" y="2926080"/>
            <a:ext cx="868680" cy="402336"/>
          </a:xfrm>
          <a:prstGeom prst="line">
            <a:avLst/>
          </a:prstGeom>
          <a:ln w="22225">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635240" y="2926080"/>
            <a:ext cx="667512" cy="1682496"/>
          </a:xfrm>
          <a:prstGeom prst="line">
            <a:avLst/>
          </a:prstGeom>
          <a:ln w="22225">
            <a:solidFill>
              <a:srgbClr val="F59E0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68680" y="5285232"/>
            <a:ext cx="9829800" cy="5303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78992" y="5431536"/>
            <a:ext cx="9372600" cy="164592"/>
          </a:xfrm>
          <a:prstGeom prst="rect">
            <a:avLst/>
          </a:prstGeom>
          <a:noFill/>
        </p:spPr>
        <p:txBody>
          <a:bodyPr wrap="square" lIns="0" tIns="0" rIns="0" bIns="0" anchor="t">
            <a:spAutoFit/>
          </a:bodyPr>
          <a:lstStyle/>
          <a:p>
            <a:pPr algn="l"/>
            <a:r>
              <a:rPr sz="1260" b="0" i="0">
                <a:solidFill>
                  <a:srgbClr val="475569"/>
                </a:solidFill>
                <a:latin typeface="Segoe UI"/>
              </a:rPr>
              <a:t>Luồng chính: Browser → Frontend/Nginx → Backend API → PostgreSQL và Redis. Mô hình này bám sát cách triển khai thật khi dựng bằng Docker Compose.</a:t>
            </a:r>
          </a:p>
        </p:txBody>
      </p:sp>
      <p:sp>
        <p:nvSpPr>
          <p:cNvPr id="30" name="Rounded Rectangle 29"/>
          <p:cNvSpPr/>
          <p:nvPr/>
        </p:nvSpPr>
        <p:spPr>
          <a:xfrm>
            <a:off x="10881360" y="5394960"/>
            <a:ext cx="777240" cy="310896"/>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81360" y="5440680"/>
            <a:ext cx="777240" cy="146304"/>
          </a:xfrm>
          <a:prstGeom prst="rect">
            <a:avLst/>
          </a:prstGeom>
          <a:noFill/>
        </p:spPr>
        <p:txBody>
          <a:bodyPr wrap="square" lIns="0" tIns="0" rIns="0" bIns="0" anchor="t">
            <a:spAutoFit/>
          </a:bodyPr>
          <a:lstStyle/>
          <a:p>
            <a:pPr algn="ctr"/>
            <a:r>
              <a:rPr sz="1050" b="1" i="0">
                <a:solidFill>
                  <a:srgbClr val="0F172A"/>
                </a:solidFill>
                <a:latin typeface="Segoe UI"/>
              </a:rPr>
              <a:t>Docker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Kiến trúc tầng và trách nhiệm từng khối</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Không chỉ tách service, hệ thống còn tách rõ tầng giao diện, tầng nghiệp vụ, tầng dữ liệu và tầng hạ tầng.</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7</a:t>
            </a:r>
          </a:p>
        </p:txBody>
      </p:sp>
      <p:sp>
        <p:nvSpPr>
          <p:cNvPr id="7" name="Rounded Rectangle 6"/>
          <p:cNvSpPr/>
          <p:nvPr/>
        </p:nvSpPr>
        <p:spPr>
          <a:xfrm>
            <a:off x="822960" y="1691640"/>
            <a:ext cx="278892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91640"/>
            <a:ext cx="278892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856232"/>
            <a:ext cx="2423160" cy="164592"/>
          </a:xfrm>
          <a:prstGeom prst="rect">
            <a:avLst/>
          </a:prstGeom>
          <a:noFill/>
        </p:spPr>
        <p:txBody>
          <a:bodyPr wrap="square" lIns="0" tIns="0" rIns="0" bIns="0" anchor="t">
            <a:spAutoFit/>
          </a:bodyPr>
          <a:lstStyle/>
          <a:p>
            <a:pPr algn="l"/>
            <a:r>
              <a:rPr sz="1700" b="1" i="0">
                <a:solidFill>
                  <a:srgbClr val="0F172A"/>
                </a:solidFill>
                <a:latin typeface="Segoe UI"/>
              </a:rPr>
              <a:t>Tầng giao diện</a:t>
            </a:r>
          </a:p>
        </p:txBody>
      </p:sp>
      <p:sp>
        <p:nvSpPr>
          <p:cNvPr id="10" name="TextBox 9"/>
          <p:cNvSpPr txBox="1"/>
          <p:nvPr/>
        </p:nvSpPr>
        <p:spPr>
          <a:xfrm>
            <a:off x="1005840" y="2313432"/>
            <a:ext cx="2423160" cy="352044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Trang dashboard, transactions, goals, family, admin.</a:t>
            </a:r>
          </a:p>
          <a:p>
            <a:pPr>
              <a:spcAft>
                <a:spcPts val="500"/>
              </a:spcAft>
            </a:pPr>
            <a:r>
              <a:rPr sz="1420" b="1">
                <a:solidFill>
                  <a:srgbClr val="0EA5E9"/>
                </a:solidFill>
              </a:rPr>
              <a:t>• </a:t>
            </a:r>
            <a:r>
              <a:rPr sz="1420">
                <a:solidFill>
                  <a:srgbClr val="475569"/>
                </a:solidFill>
                <a:latin typeface="Segoe UI"/>
              </a:rPr>
              <a:t>Nhận input người dùng, validate sơ bộ và gọi API.</a:t>
            </a:r>
          </a:p>
        </p:txBody>
      </p:sp>
      <p:sp>
        <p:nvSpPr>
          <p:cNvPr id="11" name="Rounded Rectangle 10"/>
          <p:cNvSpPr/>
          <p:nvPr/>
        </p:nvSpPr>
        <p:spPr>
          <a:xfrm>
            <a:off x="3977639" y="1691640"/>
            <a:ext cx="278892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977639" y="1691640"/>
            <a:ext cx="278892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60519" y="1856232"/>
            <a:ext cx="2423160" cy="164592"/>
          </a:xfrm>
          <a:prstGeom prst="rect">
            <a:avLst/>
          </a:prstGeom>
          <a:noFill/>
        </p:spPr>
        <p:txBody>
          <a:bodyPr wrap="square" lIns="0" tIns="0" rIns="0" bIns="0" anchor="t">
            <a:spAutoFit/>
          </a:bodyPr>
          <a:lstStyle/>
          <a:p>
            <a:pPr algn="l"/>
            <a:r>
              <a:rPr sz="1700" b="1" i="0">
                <a:solidFill>
                  <a:srgbClr val="0F172A"/>
                </a:solidFill>
                <a:latin typeface="Segoe UI"/>
              </a:rPr>
              <a:t>Tầng nghiệp vụ</a:t>
            </a:r>
          </a:p>
        </p:txBody>
      </p:sp>
      <p:sp>
        <p:nvSpPr>
          <p:cNvPr id="14" name="TextBox 13"/>
          <p:cNvSpPr txBox="1"/>
          <p:nvPr/>
        </p:nvSpPr>
        <p:spPr>
          <a:xfrm>
            <a:off x="4160519" y="2313432"/>
            <a:ext cx="2423160" cy="352044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Controller, service, middleware và auth flow.</a:t>
            </a:r>
          </a:p>
          <a:p>
            <a:pPr>
              <a:spcAft>
                <a:spcPts val="500"/>
              </a:spcAft>
            </a:pPr>
            <a:r>
              <a:rPr sz="1420" b="1">
                <a:solidFill>
                  <a:srgbClr val="14B8A6"/>
                </a:solidFill>
              </a:rPr>
              <a:t>• </a:t>
            </a:r>
            <a:r>
              <a:rPr sz="1420">
                <a:solidFill>
                  <a:srgbClr val="475569"/>
                </a:solidFill>
                <a:latin typeface="Segoe UI"/>
              </a:rPr>
              <a:t>Xử lý rule, phân quyền, validation và format response.</a:t>
            </a:r>
          </a:p>
        </p:txBody>
      </p:sp>
      <p:sp>
        <p:nvSpPr>
          <p:cNvPr id="15" name="Rounded Rectangle 14"/>
          <p:cNvSpPr/>
          <p:nvPr/>
        </p:nvSpPr>
        <p:spPr>
          <a:xfrm>
            <a:off x="7132320" y="1691640"/>
            <a:ext cx="278892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32320" y="1691640"/>
            <a:ext cx="278892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0" y="1856232"/>
            <a:ext cx="2423160" cy="164592"/>
          </a:xfrm>
          <a:prstGeom prst="rect">
            <a:avLst/>
          </a:prstGeom>
          <a:noFill/>
        </p:spPr>
        <p:txBody>
          <a:bodyPr wrap="square" lIns="0" tIns="0" rIns="0" bIns="0" anchor="t">
            <a:spAutoFit/>
          </a:bodyPr>
          <a:lstStyle/>
          <a:p>
            <a:pPr algn="l"/>
            <a:r>
              <a:rPr sz="1700" b="1" i="0">
                <a:solidFill>
                  <a:srgbClr val="0F172A"/>
                </a:solidFill>
                <a:latin typeface="Segoe UI"/>
              </a:rPr>
              <a:t>Tầng dữ liệu</a:t>
            </a:r>
          </a:p>
        </p:txBody>
      </p:sp>
      <p:sp>
        <p:nvSpPr>
          <p:cNvPr id="18" name="TextBox 17"/>
          <p:cNvSpPr txBox="1"/>
          <p:nvPr/>
        </p:nvSpPr>
        <p:spPr>
          <a:xfrm>
            <a:off x="7315200" y="2313432"/>
            <a:ext cx="2423160" cy="352044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Sequelize model, migration, seeder, PostgreSQL.</a:t>
            </a:r>
          </a:p>
          <a:p>
            <a:pPr>
              <a:spcAft>
                <a:spcPts val="500"/>
              </a:spcAft>
            </a:pPr>
            <a:r>
              <a:rPr sz="1420" b="1">
                <a:solidFill>
                  <a:srgbClr val="F59E0B"/>
                </a:solidFill>
              </a:rPr>
              <a:t>• </a:t>
            </a:r>
            <a:r>
              <a:rPr sz="1420">
                <a:solidFill>
                  <a:srgbClr val="475569"/>
                </a:solidFill>
                <a:latin typeface="Segoe UI"/>
              </a:rPr>
              <a:t>Lưu trữ giao dịch, ví, người dùng, gia đình, mục tiêu.</a:t>
            </a:r>
          </a:p>
        </p:txBody>
      </p:sp>
      <p:sp>
        <p:nvSpPr>
          <p:cNvPr id="19" name="Rounded Rectangle 18"/>
          <p:cNvSpPr/>
          <p:nvPr/>
        </p:nvSpPr>
        <p:spPr>
          <a:xfrm>
            <a:off x="822960" y="5486400"/>
            <a:ext cx="9875520" cy="384048"/>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5586984"/>
            <a:ext cx="9418320" cy="146304"/>
          </a:xfrm>
          <a:prstGeom prst="rect">
            <a:avLst/>
          </a:prstGeom>
          <a:noFill/>
        </p:spPr>
        <p:txBody>
          <a:bodyPr wrap="square" lIns="0" tIns="0" rIns="0" bIns="0" anchor="t">
            <a:spAutoFit/>
          </a:bodyPr>
          <a:lstStyle/>
          <a:p>
            <a:pPr algn="l"/>
            <a:r>
              <a:rPr sz="1180" b="0" i="0">
                <a:solidFill>
                  <a:srgbClr val="FFFFFF"/>
                </a:solidFill>
                <a:latin typeface="Segoe UI"/>
              </a:rPr>
              <a:t>Lợi ích: dễ mở rộng, dễ kiểm thử, giảm coupling giữa UI, business logic và data layer.</a:t>
            </a:r>
          </a:p>
        </p:txBody>
      </p:sp>
      <p:sp>
        <p:nvSpPr>
          <p:cNvPr id="21" name="Rounded Rectangle 20"/>
          <p:cNvSpPr/>
          <p:nvPr/>
        </p:nvSpPr>
        <p:spPr>
          <a:xfrm>
            <a:off x="10058400" y="1691640"/>
            <a:ext cx="1783080"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admin.png"/>
          <p:cNvPicPr>
            <a:picLocks noChangeAspect="1"/>
          </p:cNvPicPr>
          <p:nvPr/>
        </p:nvPicPr>
        <p:blipFill>
          <a:blip r:embed="rId2"/>
          <a:stretch>
            <a:fillRect/>
          </a:stretch>
        </p:blipFill>
        <p:spPr>
          <a:xfrm>
            <a:off x="10236548" y="1801368"/>
            <a:ext cx="1426783" cy="2039112"/>
          </a:xfrm>
          <a:prstGeom prst="rect">
            <a:avLst/>
          </a:prstGeom>
        </p:spPr>
      </p:pic>
      <p:sp>
        <p:nvSpPr>
          <p:cNvPr id="23" name="TextBox 22"/>
          <p:cNvSpPr txBox="1"/>
          <p:nvPr/>
        </p:nvSpPr>
        <p:spPr>
          <a:xfrm>
            <a:off x="10186416" y="3941064"/>
            <a:ext cx="1527048" cy="128016"/>
          </a:xfrm>
          <a:prstGeom prst="rect">
            <a:avLst/>
          </a:prstGeom>
          <a:noFill/>
        </p:spPr>
        <p:txBody>
          <a:bodyPr wrap="square" lIns="0" tIns="0" rIns="0" bIns="0" anchor="t">
            <a:spAutoFit/>
          </a:bodyPr>
          <a:lstStyle/>
          <a:p>
            <a:pPr algn="ctr"/>
            <a:r>
              <a:rPr sz="1050" b="1" i="0">
                <a:solidFill>
                  <a:srgbClr val="64748B"/>
                </a:solidFill>
                <a:latin typeface="Segoe UI"/>
              </a:rPr>
              <a:t>Admin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Công nghệ sử dụng</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Stack được chọn để cân bằng giữa tốc độ phát triển, khả năng mở rộng và tính phù hợp với đề tài môn học.</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8</a:t>
            </a:r>
          </a:p>
        </p:txBody>
      </p:sp>
      <p:sp>
        <p:nvSpPr>
          <p:cNvPr id="7" name="Rounded Rectangle 6"/>
          <p:cNvSpPr/>
          <p:nvPr/>
        </p:nvSpPr>
        <p:spPr>
          <a:xfrm>
            <a:off x="822960" y="1600200"/>
            <a:ext cx="2834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00200"/>
            <a:ext cx="283464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783080"/>
            <a:ext cx="2103120" cy="146304"/>
          </a:xfrm>
          <a:prstGeom prst="rect">
            <a:avLst/>
          </a:prstGeom>
          <a:noFill/>
        </p:spPr>
        <p:txBody>
          <a:bodyPr wrap="square" lIns="0" tIns="0" rIns="0" bIns="0" anchor="t">
            <a:spAutoFit/>
          </a:bodyPr>
          <a:lstStyle/>
          <a:p>
            <a:pPr algn="l"/>
            <a:r>
              <a:rPr sz="1800" b="1" i="0">
                <a:solidFill>
                  <a:srgbClr val="0F172A"/>
                </a:solidFill>
                <a:latin typeface="Segoe UI"/>
              </a:rPr>
              <a:t>Frontend</a:t>
            </a:r>
          </a:p>
        </p:txBody>
      </p:sp>
      <p:sp>
        <p:nvSpPr>
          <p:cNvPr id="10" name="TextBox 9"/>
          <p:cNvSpPr txBox="1"/>
          <p:nvPr/>
        </p:nvSpPr>
        <p:spPr>
          <a:xfrm>
            <a:off x="1024128" y="2267712"/>
            <a:ext cx="2423160" cy="3474720"/>
          </a:xfrm>
          <a:prstGeom prst="rect">
            <a:avLst/>
          </a:prstGeom>
          <a:noFill/>
        </p:spPr>
        <p:txBody>
          <a:bodyPr wrap="square">
            <a:spAutoFit/>
          </a:bodyPr>
          <a:lstStyle/>
          <a:p>
            <a:pPr>
              <a:spcAft>
                <a:spcPts val="500"/>
              </a:spcAft>
            </a:pPr>
            <a:r>
              <a:rPr sz="1440" b="1">
                <a:solidFill>
                  <a:srgbClr val="0EA5E9"/>
                </a:solidFill>
              </a:rPr>
              <a:t>• </a:t>
            </a:r>
            <a:r>
              <a:rPr sz="1440">
                <a:solidFill>
                  <a:srgbClr val="475569"/>
                </a:solidFill>
                <a:latin typeface="Segoe UI"/>
              </a:rPr>
              <a:t>React 19</a:t>
            </a:r>
          </a:p>
          <a:p>
            <a:pPr>
              <a:spcAft>
                <a:spcPts val="500"/>
              </a:spcAft>
            </a:pPr>
            <a:r>
              <a:rPr sz="1440" b="1">
                <a:solidFill>
                  <a:srgbClr val="0EA5E9"/>
                </a:solidFill>
              </a:rPr>
              <a:t>• </a:t>
            </a:r>
            <a:r>
              <a:rPr sz="1440">
                <a:solidFill>
                  <a:srgbClr val="475569"/>
                </a:solidFill>
                <a:latin typeface="Segoe UI"/>
              </a:rPr>
              <a:t>Vite</a:t>
            </a:r>
          </a:p>
          <a:p>
            <a:pPr>
              <a:spcAft>
                <a:spcPts val="500"/>
              </a:spcAft>
            </a:pPr>
            <a:r>
              <a:rPr sz="1440" b="1">
                <a:solidFill>
                  <a:srgbClr val="0EA5E9"/>
                </a:solidFill>
              </a:rPr>
              <a:t>• </a:t>
            </a:r>
            <a:r>
              <a:rPr sz="1440">
                <a:solidFill>
                  <a:srgbClr val="475569"/>
                </a:solidFill>
                <a:latin typeface="Segoe UI"/>
              </a:rPr>
              <a:t>Tailwind CSS</a:t>
            </a:r>
          </a:p>
          <a:p>
            <a:pPr>
              <a:spcAft>
                <a:spcPts val="500"/>
              </a:spcAft>
            </a:pPr>
            <a:r>
              <a:rPr sz="1440" b="1">
                <a:solidFill>
                  <a:srgbClr val="0EA5E9"/>
                </a:solidFill>
              </a:rPr>
              <a:t>• </a:t>
            </a:r>
            <a:r>
              <a:rPr sz="1440">
                <a:solidFill>
                  <a:srgbClr val="475569"/>
                </a:solidFill>
                <a:latin typeface="Segoe UI"/>
              </a:rPr>
              <a:t>Redux Toolkit</a:t>
            </a:r>
          </a:p>
          <a:p>
            <a:pPr>
              <a:spcAft>
                <a:spcPts val="500"/>
              </a:spcAft>
            </a:pPr>
            <a:r>
              <a:rPr sz="1440" b="1">
                <a:solidFill>
                  <a:srgbClr val="0EA5E9"/>
                </a:solidFill>
              </a:rPr>
              <a:t>• </a:t>
            </a:r>
            <a:r>
              <a:rPr sz="1440">
                <a:solidFill>
                  <a:srgbClr val="475569"/>
                </a:solidFill>
                <a:latin typeface="Segoe UI"/>
              </a:rPr>
              <a:t>React Router</a:t>
            </a:r>
          </a:p>
          <a:p>
            <a:pPr>
              <a:spcAft>
                <a:spcPts val="500"/>
              </a:spcAft>
            </a:pPr>
            <a:r>
              <a:rPr sz="1440" b="1">
                <a:solidFill>
                  <a:srgbClr val="0EA5E9"/>
                </a:solidFill>
              </a:rPr>
              <a:t>• </a:t>
            </a:r>
            <a:r>
              <a:rPr sz="1440">
                <a:solidFill>
                  <a:srgbClr val="475569"/>
                </a:solidFill>
                <a:latin typeface="Segoe UI"/>
              </a:rPr>
              <a:t>Formik + Yup</a:t>
            </a:r>
          </a:p>
          <a:p>
            <a:pPr>
              <a:spcAft>
                <a:spcPts val="500"/>
              </a:spcAft>
            </a:pPr>
            <a:r>
              <a:rPr sz="1440" b="1">
                <a:solidFill>
                  <a:srgbClr val="0EA5E9"/>
                </a:solidFill>
              </a:rPr>
              <a:t>• </a:t>
            </a:r>
            <a:r>
              <a:rPr sz="1440">
                <a:solidFill>
                  <a:srgbClr val="475569"/>
                </a:solidFill>
                <a:latin typeface="Segoe UI"/>
              </a:rPr>
              <a:t>Recharts</a:t>
            </a:r>
          </a:p>
        </p:txBody>
      </p:sp>
      <p:sp>
        <p:nvSpPr>
          <p:cNvPr id="11" name="Rounded Rectangle 10"/>
          <p:cNvSpPr/>
          <p:nvPr/>
        </p:nvSpPr>
        <p:spPr>
          <a:xfrm>
            <a:off x="4160520" y="1600200"/>
            <a:ext cx="2834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60520" y="1600200"/>
            <a:ext cx="283464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783080"/>
            <a:ext cx="2103120" cy="146304"/>
          </a:xfrm>
          <a:prstGeom prst="rect">
            <a:avLst/>
          </a:prstGeom>
          <a:noFill/>
        </p:spPr>
        <p:txBody>
          <a:bodyPr wrap="square" lIns="0" tIns="0" rIns="0" bIns="0" anchor="t">
            <a:spAutoFit/>
          </a:bodyPr>
          <a:lstStyle/>
          <a:p>
            <a:pPr algn="l"/>
            <a:r>
              <a:rPr sz="1800" b="1" i="0">
                <a:solidFill>
                  <a:srgbClr val="0F172A"/>
                </a:solidFill>
                <a:latin typeface="Segoe UI"/>
              </a:rPr>
              <a:t>Backend</a:t>
            </a:r>
          </a:p>
        </p:txBody>
      </p:sp>
      <p:sp>
        <p:nvSpPr>
          <p:cNvPr id="14" name="TextBox 13"/>
          <p:cNvSpPr txBox="1"/>
          <p:nvPr/>
        </p:nvSpPr>
        <p:spPr>
          <a:xfrm>
            <a:off x="4361688" y="2267712"/>
            <a:ext cx="2423160" cy="3474720"/>
          </a:xfrm>
          <a:prstGeom prst="rect">
            <a:avLst/>
          </a:prstGeom>
          <a:noFill/>
        </p:spPr>
        <p:txBody>
          <a:bodyPr wrap="square">
            <a:spAutoFit/>
          </a:bodyPr>
          <a:lstStyle/>
          <a:p>
            <a:pPr>
              <a:spcAft>
                <a:spcPts val="500"/>
              </a:spcAft>
            </a:pPr>
            <a:r>
              <a:rPr sz="1440" b="1">
                <a:solidFill>
                  <a:srgbClr val="14B8A6"/>
                </a:solidFill>
              </a:rPr>
              <a:t>• </a:t>
            </a:r>
            <a:r>
              <a:rPr sz="1440">
                <a:solidFill>
                  <a:srgbClr val="475569"/>
                </a:solidFill>
                <a:latin typeface="Segoe UI"/>
              </a:rPr>
              <a:t>Node.js</a:t>
            </a:r>
          </a:p>
          <a:p>
            <a:pPr>
              <a:spcAft>
                <a:spcPts val="500"/>
              </a:spcAft>
            </a:pPr>
            <a:r>
              <a:rPr sz="1440" b="1">
                <a:solidFill>
                  <a:srgbClr val="14B8A6"/>
                </a:solidFill>
              </a:rPr>
              <a:t>• </a:t>
            </a:r>
            <a:r>
              <a:rPr sz="1440">
                <a:solidFill>
                  <a:srgbClr val="475569"/>
                </a:solidFill>
                <a:latin typeface="Segoe UI"/>
              </a:rPr>
              <a:t>Express</a:t>
            </a:r>
          </a:p>
          <a:p>
            <a:pPr>
              <a:spcAft>
                <a:spcPts val="500"/>
              </a:spcAft>
            </a:pPr>
            <a:r>
              <a:rPr sz="1440" b="1">
                <a:solidFill>
                  <a:srgbClr val="14B8A6"/>
                </a:solidFill>
              </a:rPr>
              <a:t>• </a:t>
            </a:r>
            <a:r>
              <a:rPr sz="1440">
                <a:solidFill>
                  <a:srgbClr val="475569"/>
                </a:solidFill>
                <a:latin typeface="Segoe UI"/>
              </a:rPr>
              <a:t>Sequelize ORM</a:t>
            </a:r>
          </a:p>
          <a:p>
            <a:pPr>
              <a:spcAft>
                <a:spcPts val="500"/>
              </a:spcAft>
            </a:pPr>
            <a:r>
              <a:rPr sz="1440" b="1">
                <a:solidFill>
                  <a:srgbClr val="14B8A6"/>
                </a:solidFill>
              </a:rPr>
              <a:t>• </a:t>
            </a:r>
            <a:r>
              <a:rPr sz="1440">
                <a:solidFill>
                  <a:srgbClr val="475569"/>
                </a:solidFill>
                <a:latin typeface="Segoe UI"/>
              </a:rPr>
              <a:t>PostgreSQL</a:t>
            </a:r>
          </a:p>
          <a:p>
            <a:pPr>
              <a:spcAft>
                <a:spcPts val="500"/>
              </a:spcAft>
            </a:pPr>
            <a:r>
              <a:rPr sz="1440" b="1">
                <a:solidFill>
                  <a:srgbClr val="14B8A6"/>
                </a:solidFill>
              </a:rPr>
              <a:t>• </a:t>
            </a:r>
            <a:r>
              <a:rPr sz="1440">
                <a:solidFill>
                  <a:srgbClr val="475569"/>
                </a:solidFill>
                <a:latin typeface="Segoe UI"/>
              </a:rPr>
              <a:t>JWT</a:t>
            </a:r>
          </a:p>
          <a:p>
            <a:pPr>
              <a:spcAft>
                <a:spcPts val="500"/>
              </a:spcAft>
            </a:pPr>
            <a:r>
              <a:rPr sz="1440" b="1">
                <a:solidFill>
                  <a:srgbClr val="14B8A6"/>
                </a:solidFill>
              </a:rPr>
              <a:t>• </a:t>
            </a:r>
            <a:r>
              <a:rPr sz="1440">
                <a:solidFill>
                  <a:srgbClr val="475569"/>
                </a:solidFill>
                <a:latin typeface="Segoe UI"/>
              </a:rPr>
              <a:t>Socket.IO</a:t>
            </a:r>
          </a:p>
          <a:p>
            <a:pPr>
              <a:spcAft>
                <a:spcPts val="500"/>
              </a:spcAft>
            </a:pPr>
            <a:r>
              <a:rPr sz="1440" b="1">
                <a:solidFill>
                  <a:srgbClr val="14B8A6"/>
                </a:solidFill>
              </a:rPr>
              <a:t>• </a:t>
            </a:r>
            <a:r>
              <a:rPr sz="1440">
                <a:solidFill>
                  <a:srgbClr val="475569"/>
                </a:solidFill>
                <a:latin typeface="Segoe UI"/>
              </a:rPr>
              <a:t>Redis</a:t>
            </a:r>
          </a:p>
          <a:p>
            <a:pPr>
              <a:spcAft>
                <a:spcPts val="500"/>
              </a:spcAft>
            </a:pPr>
            <a:r>
              <a:rPr sz="1440" b="1">
                <a:solidFill>
                  <a:srgbClr val="14B8A6"/>
                </a:solidFill>
              </a:rPr>
              <a:t>• </a:t>
            </a:r>
            <a:r>
              <a:rPr sz="1440">
                <a:solidFill>
                  <a:srgbClr val="475569"/>
                </a:solidFill>
                <a:latin typeface="Segoe UI"/>
              </a:rPr>
              <a:t>Swagger</a:t>
            </a:r>
          </a:p>
        </p:txBody>
      </p:sp>
      <p:sp>
        <p:nvSpPr>
          <p:cNvPr id="15" name="Rounded Rectangle 14"/>
          <p:cNvSpPr/>
          <p:nvPr/>
        </p:nvSpPr>
        <p:spPr>
          <a:xfrm>
            <a:off x="7498079" y="1600200"/>
            <a:ext cx="2834640"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98079" y="1600200"/>
            <a:ext cx="283464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59" y="1783080"/>
            <a:ext cx="2103120" cy="146304"/>
          </a:xfrm>
          <a:prstGeom prst="rect">
            <a:avLst/>
          </a:prstGeom>
          <a:noFill/>
        </p:spPr>
        <p:txBody>
          <a:bodyPr wrap="square" lIns="0" tIns="0" rIns="0" bIns="0" anchor="t">
            <a:spAutoFit/>
          </a:bodyPr>
          <a:lstStyle/>
          <a:p>
            <a:pPr algn="l"/>
            <a:r>
              <a:rPr sz="1800" b="1" i="0">
                <a:solidFill>
                  <a:srgbClr val="0F172A"/>
                </a:solidFill>
                <a:latin typeface="Segoe UI"/>
              </a:rPr>
              <a:t>QA / DevOps</a:t>
            </a:r>
          </a:p>
        </p:txBody>
      </p:sp>
      <p:sp>
        <p:nvSpPr>
          <p:cNvPr id="18" name="TextBox 17"/>
          <p:cNvSpPr txBox="1"/>
          <p:nvPr/>
        </p:nvSpPr>
        <p:spPr>
          <a:xfrm>
            <a:off x="7699248" y="2267712"/>
            <a:ext cx="2423160" cy="3474720"/>
          </a:xfrm>
          <a:prstGeom prst="rect">
            <a:avLst/>
          </a:prstGeom>
          <a:noFill/>
        </p:spPr>
        <p:txBody>
          <a:bodyPr wrap="square">
            <a:spAutoFit/>
          </a:bodyPr>
          <a:lstStyle/>
          <a:p>
            <a:pPr>
              <a:spcAft>
                <a:spcPts val="500"/>
              </a:spcAft>
            </a:pPr>
            <a:r>
              <a:rPr sz="1440" b="1">
                <a:solidFill>
                  <a:srgbClr val="F59E0B"/>
                </a:solidFill>
              </a:rPr>
              <a:t>• </a:t>
            </a:r>
            <a:r>
              <a:rPr sz="1440">
                <a:solidFill>
                  <a:srgbClr val="475569"/>
                </a:solidFill>
                <a:latin typeface="Segoe UI"/>
              </a:rPr>
              <a:t>Docker</a:t>
            </a:r>
          </a:p>
          <a:p>
            <a:pPr>
              <a:spcAft>
                <a:spcPts val="500"/>
              </a:spcAft>
            </a:pPr>
            <a:r>
              <a:rPr sz="1440" b="1">
                <a:solidFill>
                  <a:srgbClr val="F59E0B"/>
                </a:solidFill>
              </a:rPr>
              <a:t>• </a:t>
            </a:r>
            <a:r>
              <a:rPr sz="1440">
                <a:solidFill>
                  <a:srgbClr val="475569"/>
                </a:solidFill>
                <a:latin typeface="Segoe UI"/>
              </a:rPr>
              <a:t>docker-compose</a:t>
            </a:r>
          </a:p>
          <a:p>
            <a:pPr>
              <a:spcAft>
                <a:spcPts val="500"/>
              </a:spcAft>
            </a:pPr>
            <a:r>
              <a:rPr sz="1440" b="1">
                <a:solidFill>
                  <a:srgbClr val="F59E0B"/>
                </a:solidFill>
              </a:rPr>
              <a:t>• </a:t>
            </a:r>
            <a:r>
              <a:rPr sz="1440">
                <a:solidFill>
                  <a:srgbClr val="475569"/>
                </a:solidFill>
                <a:latin typeface="Segoe UI"/>
              </a:rPr>
              <a:t>Jest</a:t>
            </a:r>
          </a:p>
          <a:p>
            <a:pPr>
              <a:spcAft>
                <a:spcPts val="500"/>
              </a:spcAft>
            </a:pPr>
            <a:r>
              <a:rPr sz="1440" b="1">
                <a:solidFill>
                  <a:srgbClr val="F59E0B"/>
                </a:solidFill>
              </a:rPr>
              <a:t>• </a:t>
            </a:r>
            <a:r>
              <a:rPr sz="1440">
                <a:solidFill>
                  <a:srgbClr val="475569"/>
                </a:solidFill>
                <a:latin typeface="Segoe UI"/>
              </a:rPr>
              <a:t>Vitest</a:t>
            </a:r>
          </a:p>
          <a:p>
            <a:pPr>
              <a:spcAft>
                <a:spcPts val="500"/>
              </a:spcAft>
            </a:pPr>
            <a:r>
              <a:rPr sz="1440" b="1">
                <a:solidFill>
                  <a:srgbClr val="F59E0B"/>
                </a:solidFill>
              </a:rPr>
              <a:t>• </a:t>
            </a:r>
            <a:r>
              <a:rPr sz="1440">
                <a:solidFill>
                  <a:srgbClr val="475569"/>
                </a:solidFill>
                <a:latin typeface="Segoe UI"/>
              </a:rPr>
              <a:t>Playwright</a:t>
            </a:r>
          </a:p>
          <a:p>
            <a:pPr>
              <a:spcAft>
                <a:spcPts val="500"/>
              </a:spcAft>
            </a:pPr>
            <a:r>
              <a:rPr sz="1440" b="1">
                <a:solidFill>
                  <a:srgbClr val="F59E0B"/>
                </a:solidFill>
              </a:rPr>
              <a:t>• </a:t>
            </a:r>
            <a:r>
              <a:rPr sz="1440">
                <a:solidFill>
                  <a:srgbClr val="475569"/>
                </a:solidFill>
                <a:latin typeface="Segoe UI"/>
              </a:rPr>
              <a:t>Newman</a:t>
            </a:r>
          </a:p>
          <a:p>
            <a:pPr>
              <a:spcAft>
                <a:spcPts val="500"/>
              </a:spcAft>
            </a:pPr>
            <a:r>
              <a:rPr sz="1440" b="1">
                <a:solidFill>
                  <a:srgbClr val="F59E0B"/>
                </a:solidFill>
              </a:rPr>
              <a:t>• </a:t>
            </a:r>
            <a:r>
              <a:rPr sz="1440">
                <a:solidFill>
                  <a:srgbClr val="475569"/>
                </a:solidFill>
                <a:latin typeface="Segoe UI"/>
              </a:rPr>
              <a:t>Git / GitHub</a:t>
            </a:r>
          </a:p>
        </p:txBody>
      </p:sp>
      <p:sp>
        <p:nvSpPr>
          <p:cNvPr id="19" name="TextBox 18"/>
          <p:cNvSpPr txBox="1"/>
          <p:nvPr/>
        </p:nvSpPr>
        <p:spPr>
          <a:xfrm>
            <a:off x="914400" y="6199632"/>
            <a:ext cx="10424160" cy="164592"/>
          </a:xfrm>
          <a:prstGeom prst="rect">
            <a:avLst/>
          </a:prstGeom>
          <a:noFill/>
        </p:spPr>
        <p:txBody>
          <a:bodyPr wrap="square" lIns="0" tIns="0" rIns="0" bIns="0" anchor="t">
            <a:spAutoFit/>
          </a:bodyPr>
          <a:lstStyle/>
          <a:p>
            <a:pPr algn="ctr"/>
            <a:r>
              <a:rPr sz="1250" b="0" i="1">
                <a:solidFill>
                  <a:srgbClr val="64748B"/>
                </a:solidFill>
                <a:latin typeface="Segoe UI"/>
              </a:rPr>
              <a:t>Thông điệp chính: công nghệ không chỉ để 'làm được' mà còn để thể hiện rõ tính hiện đại, bảo mật và khả năng demo ổn định.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Cấu trúc source code và tư duy tổ chức dự án</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Repo được tách thành frontend, backend, docker và tài liệu; cách tổ chức này giúp trình bày và bảo trì thuận lợi.</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9</a:t>
            </a:r>
          </a:p>
        </p:txBody>
      </p:sp>
      <p:sp>
        <p:nvSpPr>
          <p:cNvPr id="7" name="Rounded Rectangle 6"/>
          <p:cNvSpPr/>
          <p:nvPr/>
        </p:nvSpPr>
        <p:spPr>
          <a:xfrm>
            <a:off x="822960" y="1645920"/>
            <a:ext cx="475488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847088"/>
            <a:ext cx="2743200" cy="164592"/>
          </a:xfrm>
          <a:prstGeom prst="rect">
            <a:avLst/>
          </a:prstGeom>
          <a:noFill/>
        </p:spPr>
        <p:txBody>
          <a:bodyPr wrap="square" lIns="0" tIns="0" rIns="0" bIns="0" anchor="t">
            <a:spAutoFit/>
          </a:bodyPr>
          <a:lstStyle/>
          <a:p>
            <a:pPr algn="l"/>
            <a:r>
              <a:rPr sz="1800" b="1" i="0">
                <a:solidFill>
                  <a:srgbClr val="0F172A"/>
                </a:solidFill>
                <a:latin typeface="Segoe UI"/>
              </a:rPr>
              <a:t>Phân rã theo thư mục</a:t>
            </a:r>
          </a:p>
        </p:txBody>
      </p:sp>
      <p:sp>
        <p:nvSpPr>
          <p:cNvPr id="9" name="TextBox 8"/>
          <p:cNvSpPr txBox="1"/>
          <p:nvPr/>
        </p:nvSpPr>
        <p:spPr>
          <a:xfrm>
            <a:off x="1078992" y="2212848"/>
            <a:ext cx="3931920" cy="164592"/>
          </a:xfrm>
          <a:prstGeom prst="rect">
            <a:avLst/>
          </a:prstGeom>
          <a:noFill/>
        </p:spPr>
        <p:txBody>
          <a:bodyPr wrap="square" lIns="0" tIns="0" rIns="0" bIns="0" anchor="t">
            <a:spAutoFit/>
          </a:bodyPr>
          <a:lstStyle/>
          <a:p>
            <a:pPr algn="l"/>
            <a:r>
              <a:rPr sz="1480" b="0" i="0">
                <a:solidFill>
                  <a:srgbClr val="475569"/>
                </a:solidFill>
                <a:latin typeface="Consolas"/>
              </a:rPr>
              <a:t>frontend/</a:t>
            </a:r>
          </a:p>
        </p:txBody>
      </p:sp>
      <p:sp>
        <p:nvSpPr>
          <p:cNvPr id="10" name="TextBox 9"/>
          <p:cNvSpPr txBox="1"/>
          <p:nvPr/>
        </p:nvSpPr>
        <p:spPr>
          <a:xfrm>
            <a:off x="1078992" y="2596896"/>
            <a:ext cx="3931920" cy="164592"/>
          </a:xfrm>
          <a:prstGeom prst="rect">
            <a:avLst/>
          </a:prstGeom>
          <a:noFill/>
        </p:spPr>
        <p:txBody>
          <a:bodyPr wrap="square" lIns="0" tIns="0" rIns="0" bIns="0" anchor="t">
            <a:spAutoFit/>
          </a:bodyPr>
          <a:lstStyle/>
          <a:p>
            <a:pPr algn="l"/>
            <a:r>
              <a:rPr sz="1480" b="0" i="0">
                <a:solidFill>
                  <a:srgbClr val="475569"/>
                </a:solidFill>
                <a:latin typeface="Consolas"/>
              </a:rPr>
              <a:t>  src/pages, src/components, src/hooks, src/store</a:t>
            </a:r>
          </a:p>
        </p:txBody>
      </p:sp>
      <p:sp>
        <p:nvSpPr>
          <p:cNvPr id="11" name="TextBox 10"/>
          <p:cNvSpPr txBox="1"/>
          <p:nvPr/>
        </p:nvSpPr>
        <p:spPr>
          <a:xfrm>
            <a:off x="1078992" y="2980944"/>
            <a:ext cx="3931920" cy="164592"/>
          </a:xfrm>
          <a:prstGeom prst="rect">
            <a:avLst/>
          </a:prstGeom>
          <a:noFill/>
        </p:spPr>
        <p:txBody>
          <a:bodyPr wrap="square" lIns="0" tIns="0" rIns="0" bIns="0" anchor="t">
            <a:spAutoFit/>
          </a:bodyPr>
          <a:lstStyle/>
          <a:p>
            <a:pPr algn="l"/>
            <a:r>
              <a:rPr sz="1480" b="0" i="0">
                <a:solidFill>
                  <a:srgbClr val="475569"/>
                </a:solidFill>
                <a:latin typeface="Consolas"/>
              </a:rPr>
              <a:t>backend/</a:t>
            </a:r>
          </a:p>
        </p:txBody>
      </p:sp>
      <p:sp>
        <p:nvSpPr>
          <p:cNvPr id="12" name="TextBox 11"/>
          <p:cNvSpPr txBox="1"/>
          <p:nvPr/>
        </p:nvSpPr>
        <p:spPr>
          <a:xfrm>
            <a:off x="1078992" y="3364991"/>
            <a:ext cx="3931920" cy="164592"/>
          </a:xfrm>
          <a:prstGeom prst="rect">
            <a:avLst/>
          </a:prstGeom>
          <a:noFill/>
        </p:spPr>
        <p:txBody>
          <a:bodyPr wrap="square" lIns="0" tIns="0" rIns="0" bIns="0" anchor="t">
            <a:spAutoFit/>
          </a:bodyPr>
          <a:lstStyle/>
          <a:p>
            <a:pPr algn="l"/>
            <a:r>
              <a:rPr sz="1480" b="0" i="0">
                <a:solidFill>
                  <a:srgbClr val="475569"/>
                </a:solidFill>
                <a:latin typeface="Consolas"/>
              </a:rPr>
              <a:t>  controllers, routes, models, middleware, config, tests</a:t>
            </a:r>
          </a:p>
        </p:txBody>
      </p:sp>
      <p:sp>
        <p:nvSpPr>
          <p:cNvPr id="13" name="TextBox 12"/>
          <p:cNvSpPr txBox="1"/>
          <p:nvPr/>
        </p:nvSpPr>
        <p:spPr>
          <a:xfrm>
            <a:off x="1078992" y="3749039"/>
            <a:ext cx="3931920" cy="164592"/>
          </a:xfrm>
          <a:prstGeom prst="rect">
            <a:avLst/>
          </a:prstGeom>
          <a:noFill/>
        </p:spPr>
        <p:txBody>
          <a:bodyPr wrap="square" lIns="0" tIns="0" rIns="0" bIns="0" anchor="t">
            <a:spAutoFit/>
          </a:bodyPr>
          <a:lstStyle/>
          <a:p>
            <a:pPr algn="l"/>
            <a:r>
              <a:rPr sz="1480" b="0" i="0">
                <a:solidFill>
                  <a:srgbClr val="475569"/>
                </a:solidFill>
                <a:latin typeface="Consolas"/>
              </a:rPr>
              <a:t>docker-compose.yml</a:t>
            </a:r>
          </a:p>
        </p:txBody>
      </p:sp>
      <p:sp>
        <p:nvSpPr>
          <p:cNvPr id="14" name="TextBox 13"/>
          <p:cNvSpPr txBox="1"/>
          <p:nvPr/>
        </p:nvSpPr>
        <p:spPr>
          <a:xfrm>
            <a:off x="1078992" y="4133087"/>
            <a:ext cx="3931920" cy="164592"/>
          </a:xfrm>
          <a:prstGeom prst="rect">
            <a:avLst/>
          </a:prstGeom>
          <a:noFill/>
        </p:spPr>
        <p:txBody>
          <a:bodyPr wrap="square" lIns="0" tIns="0" rIns="0" bIns="0" anchor="t">
            <a:spAutoFit/>
          </a:bodyPr>
          <a:lstStyle/>
          <a:p>
            <a:pPr algn="l"/>
            <a:r>
              <a:rPr sz="1480" b="0" i="0">
                <a:solidFill>
                  <a:srgbClr val="475569"/>
                </a:solidFill>
                <a:latin typeface="Consolas"/>
              </a:rPr>
              <a:t>scripts/, doc/, assets/presentation/</a:t>
            </a:r>
          </a:p>
        </p:txBody>
      </p:sp>
      <p:sp>
        <p:nvSpPr>
          <p:cNvPr id="15" name="Rounded Rectangle 14"/>
          <p:cNvSpPr/>
          <p:nvPr/>
        </p:nvSpPr>
        <p:spPr>
          <a:xfrm>
            <a:off x="5806440" y="1645920"/>
            <a:ext cx="24688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806440" y="1645920"/>
            <a:ext cx="246888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89320" y="1810512"/>
            <a:ext cx="2103120" cy="164592"/>
          </a:xfrm>
          <a:prstGeom prst="rect">
            <a:avLst/>
          </a:prstGeom>
          <a:noFill/>
        </p:spPr>
        <p:txBody>
          <a:bodyPr wrap="square" lIns="0" tIns="0" rIns="0" bIns="0" anchor="t">
            <a:spAutoFit/>
          </a:bodyPr>
          <a:lstStyle/>
          <a:p>
            <a:pPr algn="l"/>
            <a:r>
              <a:rPr sz="1700" b="1" i="0">
                <a:solidFill>
                  <a:srgbClr val="0F172A"/>
                </a:solidFill>
                <a:latin typeface="Segoe UI"/>
              </a:rPr>
              <a:t>Ý nghĩa</a:t>
            </a:r>
          </a:p>
        </p:txBody>
      </p:sp>
      <p:sp>
        <p:nvSpPr>
          <p:cNvPr id="18" name="TextBox 17"/>
          <p:cNvSpPr txBox="1"/>
          <p:nvPr/>
        </p:nvSpPr>
        <p:spPr>
          <a:xfrm>
            <a:off x="5989320" y="2267712"/>
            <a:ext cx="2103120" cy="118872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Dễ tách phần FE/BE để demo.</a:t>
            </a:r>
          </a:p>
          <a:p>
            <a:pPr>
              <a:spcAft>
                <a:spcPts val="500"/>
              </a:spcAft>
            </a:pPr>
            <a:r>
              <a:rPr sz="1420" b="1">
                <a:solidFill>
                  <a:srgbClr val="0EA5E9"/>
                </a:solidFill>
              </a:rPr>
              <a:t>• </a:t>
            </a:r>
            <a:r>
              <a:rPr sz="1420">
                <a:solidFill>
                  <a:srgbClr val="475569"/>
                </a:solidFill>
                <a:latin typeface="Segoe UI"/>
              </a:rPr>
              <a:t>Dễ quy trách nhiệm từng khối.</a:t>
            </a:r>
          </a:p>
          <a:p>
            <a:pPr>
              <a:spcAft>
                <a:spcPts val="500"/>
              </a:spcAft>
            </a:pPr>
            <a:r>
              <a:rPr sz="1420" b="1">
                <a:solidFill>
                  <a:srgbClr val="0EA5E9"/>
                </a:solidFill>
              </a:rPr>
              <a:t>• </a:t>
            </a:r>
            <a:r>
              <a:rPr sz="1420">
                <a:solidFill>
                  <a:srgbClr val="475569"/>
                </a:solidFill>
                <a:latin typeface="Segoe UI"/>
              </a:rPr>
              <a:t>Thuận tiện cho test và Docker.</a:t>
            </a:r>
          </a:p>
        </p:txBody>
      </p:sp>
      <p:sp>
        <p:nvSpPr>
          <p:cNvPr id="19" name="Rounded Rectangle 18"/>
          <p:cNvSpPr/>
          <p:nvPr/>
        </p:nvSpPr>
        <p:spPr>
          <a:xfrm>
            <a:off x="8458200" y="1645920"/>
            <a:ext cx="26974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458200" y="1645920"/>
            <a:ext cx="269748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41080" y="1810512"/>
            <a:ext cx="2331720" cy="164592"/>
          </a:xfrm>
          <a:prstGeom prst="rect">
            <a:avLst/>
          </a:prstGeom>
          <a:noFill/>
        </p:spPr>
        <p:txBody>
          <a:bodyPr wrap="square" lIns="0" tIns="0" rIns="0" bIns="0" anchor="t">
            <a:spAutoFit/>
          </a:bodyPr>
          <a:lstStyle/>
          <a:p>
            <a:pPr algn="l"/>
            <a:r>
              <a:rPr sz="1700" b="1" i="0">
                <a:solidFill>
                  <a:srgbClr val="0F172A"/>
                </a:solidFill>
                <a:latin typeface="Segoe UI"/>
              </a:rPr>
              <a:t>Tư duy component</a:t>
            </a:r>
          </a:p>
        </p:txBody>
      </p:sp>
      <p:sp>
        <p:nvSpPr>
          <p:cNvPr id="22" name="TextBox 21"/>
          <p:cNvSpPr txBox="1"/>
          <p:nvPr/>
        </p:nvSpPr>
        <p:spPr>
          <a:xfrm>
            <a:off x="8641080" y="2267712"/>
            <a:ext cx="2331720" cy="118872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Page là composition của nhiều component nhỏ.</a:t>
            </a:r>
          </a:p>
          <a:p>
            <a:pPr>
              <a:spcAft>
                <a:spcPts val="500"/>
              </a:spcAft>
            </a:pPr>
            <a:r>
              <a:rPr sz="1420" b="1">
                <a:solidFill>
                  <a:srgbClr val="14B8A6"/>
                </a:solidFill>
              </a:rPr>
              <a:t>• </a:t>
            </a:r>
            <a:r>
              <a:rPr sz="1420">
                <a:solidFill>
                  <a:srgbClr val="475569"/>
                </a:solidFill>
                <a:latin typeface="Segoe UI"/>
              </a:rPr>
              <a:t>State dùng cục bộ hoặc Redux tùy cấp độ dùng lại.</a:t>
            </a:r>
          </a:p>
          <a:p>
            <a:pPr>
              <a:spcAft>
                <a:spcPts val="500"/>
              </a:spcAft>
            </a:pPr>
            <a:r>
              <a:rPr sz="1420" b="1">
                <a:solidFill>
                  <a:srgbClr val="14B8A6"/>
                </a:solidFill>
              </a:rPr>
              <a:t>• </a:t>
            </a:r>
            <a:r>
              <a:rPr sz="1420">
                <a:solidFill>
                  <a:srgbClr val="475569"/>
                </a:solidFill>
                <a:latin typeface="Segoe UI"/>
              </a:rPr>
              <a:t>Có thể mở rộng mà không phá vỡ toàn cục.</a:t>
            </a:r>
          </a:p>
        </p:txBody>
      </p:sp>
      <p:sp>
        <p:nvSpPr>
          <p:cNvPr id="23" name="Rounded Rectangle 22"/>
          <p:cNvSpPr/>
          <p:nvPr/>
        </p:nvSpPr>
        <p:spPr>
          <a:xfrm>
            <a:off x="5806440" y="3886200"/>
            <a:ext cx="534924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806440" y="3886200"/>
            <a:ext cx="534924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89320" y="4050792"/>
            <a:ext cx="4983480" cy="164592"/>
          </a:xfrm>
          <a:prstGeom prst="rect">
            <a:avLst/>
          </a:prstGeom>
          <a:noFill/>
        </p:spPr>
        <p:txBody>
          <a:bodyPr wrap="square" lIns="0" tIns="0" rIns="0" bIns="0" anchor="t">
            <a:spAutoFit/>
          </a:bodyPr>
          <a:lstStyle/>
          <a:p>
            <a:pPr algn="l"/>
            <a:r>
              <a:rPr sz="1700" b="1" i="0">
                <a:solidFill>
                  <a:srgbClr val="0F172A"/>
                </a:solidFill>
                <a:latin typeface="Segoe UI"/>
              </a:rPr>
              <a:t>Thông điệp khi trình bày</a:t>
            </a:r>
          </a:p>
        </p:txBody>
      </p:sp>
      <p:sp>
        <p:nvSpPr>
          <p:cNvPr id="26" name="TextBox 25"/>
          <p:cNvSpPr txBox="1"/>
          <p:nvPr/>
        </p:nvSpPr>
        <p:spPr>
          <a:xfrm>
            <a:off x="5989320" y="4507992"/>
            <a:ext cx="4983480" cy="128016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Không chỉ có giao diện chạy được, dự án còn có cấu trúc code đủ sạch để người khác tiếp nhận và phát triển tiếp.</a:t>
            </a:r>
          </a:p>
          <a:p>
            <a:pPr>
              <a:spcAft>
                <a:spcPts val="500"/>
              </a:spcAft>
            </a:pPr>
            <a:r>
              <a:rPr sz="1420" b="1">
                <a:solidFill>
                  <a:srgbClr val="F59E0B"/>
                </a:solidFill>
              </a:rPr>
              <a:t>• </a:t>
            </a:r>
            <a:r>
              <a:rPr sz="1420">
                <a:solidFill>
                  <a:srgbClr val="475569"/>
                </a:solidFill>
                <a:latin typeface="Segoe UI"/>
              </a:rPr>
              <a:t>Việc đưa toàn bộ asset thuyết trình vào repo cũng giúp giảm rủi ro path dài và tăng tính tái lập khi tạo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Thiết kế dữ liệu và nghiệp vụ lõi</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Dữ liệu xoay quanh transaction, nhưng được mở rộng thêm để đáp ứng ví, mục tiêu, ngân sách và hoạt động gia đình.</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10</a:t>
            </a:r>
          </a:p>
        </p:txBody>
      </p:sp>
      <p:sp>
        <p:nvSpPr>
          <p:cNvPr id="7" name="Rounded Rectangle 6"/>
          <p:cNvSpPr/>
          <p:nvPr/>
        </p:nvSpPr>
        <p:spPr>
          <a:xfrm>
            <a:off x="4404360" y="2656332"/>
            <a:ext cx="2057400" cy="8686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49299" y="2852815"/>
            <a:ext cx="2167521" cy="338554"/>
          </a:xfrm>
          <a:prstGeom prst="rect">
            <a:avLst/>
          </a:prstGeom>
          <a:noFill/>
        </p:spPr>
        <p:txBody>
          <a:bodyPr wrap="square" lIns="0" tIns="0" rIns="0" bIns="0" anchor="t">
            <a:spAutoFit/>
          </a:bodyPr>
          <a:lstStyle/>
          <a:p>
            <a:pPr algn="ctr"/>
            <a:r>
              <a:rPr sz="2200" b="1" i="0" dirty="0">
                <a:solidFill>
                  <a:srgbClr val="FFFFFF"/>
                </a:solidFill>
                <a:latin typeface="Segoe UI"/>
              </a:rPr>
              <a:t>Transactions</a:t>
            </a:r>
          </a:p>
        </p:txBody>
      </p:sp>
      <p:sp>
        <p:nvSpPr>
          <p:cNvPr id="9" name="Rounded Rectangle 8"/>
          <p:cNvSpPr/>
          <p:nvPr/>
        </p:nvSpPr>
        <p:spPr>
          <a:xfrm>
            <a:off x="960120" y="1298448"/>
            <a:ext cx="1691640" cy="658368"/>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499616"/>
            <a:ext cx="1691640" cy="164592"/>
          </a:xfrm>
          <a:prstGeom prst="rect">
            <a:avLst/>
          </a:prstGeom>
          <a:noFill/>
        </p:spPr>
        <p:txBody>
          <a:bodyPr wrap="square" lIns="0" tIns="0" rIns="0" bIns="0" anchor="t">
            <a:spAutoFit/>
          </a:bodyPr>
          <a:lstStyle/>
          <a:p>
            <a:pPr algn="ctr"/>
            <a:r>
              <a:rPr sz="1420" b="1" i="0">
                <a:solidFill>
                  <a:srgbClr val="0F172A"/>
                </a:solidFill>
                <a:latin typeface="Segoe UI"/>
              </a:rPr>
              <a:t>Users</a:t>
            </a:r>
          </a:p>
        </p:txBody>
      </p:sp>
      <p:sp>
        <p:nvSpPr>
          <p:cNvPr id="12" name="Rounded Rectangle 11"/>
          <p:cNvSpPr/>
          <p:nvPr/>
        </p:nvSpPr>
        <p:spPr>
          <a:xfrm>
            <a:off x="975753" y="4354830"/>
            <a:ext cx="1691640" cy="658368"/>
          </a:xfrm>
          <a:prstGeom prst="roundRect">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5753" y="4555998"/>
            <a:ext cx="1691640" cy="164592"/>
          </a:xfrm>
          <a:prstGeom prst="rect">
            <a:avLst/>
          </a:prstGeom>
          <a:noFill/>
        </p:spPr>
        <p:txBody>
          <a:bodyPr wrap="square" lIns="0" tIns="0" rIns="0" bIns="0" anchor="t">
            <a:spAutoFit/>
          </a:bodyPr>
          <a:lstStyle/>
          <a:p>
            <a:pPr algn="ctr"/>
            <a:r>
              <a:rPr sz="1420" b="1" i="0">
                <a:solidFill>
                  <a:srgbClr val="0F172A"/>
                </a:solidFill>
                <a:latin typeface="Segoe UI"/>
              </a:rPr>
              <a:t>Wallets</a:t>
            </a:r>
          </a:p>
        </p:txBody>
      </p:sp>
      <p:sp>
        <p:nvSpPr>
          <p:cNvPr id="15" name="Rounded Rectangle 14"/>
          <p:cNvSpPr/>
          <p:nvPr/>
        </p:nvSpPr>
        <p:spPr>
          <a:xfrm>
            <a:off x="4404360" y="1298448"/>
            <a:ext cx="1691640" cy="658368"/>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4360" y="1499616"/>
            <a:ext cx="1691640" cy="164592"/>
          </a:xfrm>
          <a:prstGeom prst="rect">
            <a:avLst/>
          </a:prstGeom>
          <a:noFill/>
        </p:spPr>
        <p:txBody>
          <a:bodyPr wrap="square" lIns="0" tIns="0" rIns="0" bIns="0" anchor="t">
            <a:spAutoFit/>
          </a:bodyPr>
          <a:lstStyle/>
          <a:p>
            <a:pPr algn="ctr"/>
            <a:r>
              <a:rPr sz="1420" b="1" i="0">
                <a:solidFill>
                  <a:srgbClr val="0F172A"/>
                </a:solidFill>
                <a:latin typeface="Segoe UI"/>
              </a:rPr>
              <a:t>Categories</a:t>
            </a:r>
          </a:p>
        </p:txBody>
      </p:sp>
      <p:sp>
        <p:nvSpPr>
          <p:cNvPr id="18" name="Rounded Rectangle 17"/>
          <p:cNvSpPr/>
          <p:nvPr/>
        </p:nvSpPr>
        <p:spPr>
          <a:xfrm>
            <a:off x="7973568" y="1352722"/>
            <a:ext cx="1691640" cy="658368"/>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73568" y="1553890"/>
            <a:ext cx="1691640" cy="164592"/>
          </a:xfrm>
          <a:prstGeom prst="rect">
            <a:avLst/>
          </a:prstGeom>
          <a:noFill/>
        </p:spPr>
        <p:txBody>
          <a:bodyPr wrap="square" lIns="0" tIns="0" rIns="0" bIns="0" anchor="t">
            <a:spAutoFit/>
          </a:bodyPr>
          <a:lstStyle/>
          <a:p>
            <a:pPr algn="ctr"/>
            <a:r>
              <a:rPr sz="1420" b="1" i="0" dirty="0">
                <a:solidFill>
                  <a:srgbClr val="0F172A"/>
                </a:solidFill>
                <a:latin typeface="Segoe UI"/>
              </a:rPr>
              <a:t>Budgets</a:t>
            </a:r>
          </a:p>
        </p:txBody>
      </p:sp>
      <p:sp>
        <p:nvSpPr>
          <p:cNvPr id="21" name="Rounded Rectangle 20"/>
          <p:cNvSpPr/>
          <p:nvPr/>
        </p:nvSpPr>
        <p:spPr>
          <a:xfrm>
            <a:off x="8211312" y="4343400"/>
            <a:ext cx="1691640" cy="658368"/>
          </a:xfrm>
          <a:prstGeom prst="roundRect">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11312" y="4544568"/>
            <a:ext cx="1691640" cy="164592"/>
          </a:xfrm>
          <a:prstGeom prst="rect">
            <a:avLst/>
          </a:prstGeom>
          <a:noFill/>
        </p:spPr>
        <p:txBody>
          <a:bodyPr wrap="square" lIns="0" tIns="0" rIns="0" bIns="0" anchor="t">
            <a:spAutoFit/>
          </a:bodyPr>
          <a:lstStyle/>
          <a:p>
            <a:pPr algn="ctr"/>
            <a:r>
              <a:rPr sz="1420" b="1" i="0">
                <a:solidFill>
                  <a:srgbClr val="0F172A"/>
                </a:solidFill>
                <a:latin typeface="Segoe UI"/>
              </a:rPr>
              <a:t>Goals</a:t>
            </a:r>
          </a:p>
        </p:txBody>
      </p:sp>
      <p:sp>
        <p:nvSpPr>
          <p:cNvPr id="24" name="Rounded Rectangle 23"/>
          <p:cNvSpPr/>
          <p:nvPr/>
        </p:nvSpPr>
        <p:spPr>
          <a:xfrm>
            <a:off x="8211312" y="2592029"/>
            <a:ext cx="1691640" cy="658368"/>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11312" y="2793197"/>
            <a:ext cx="1691640" cy="164592"/>
          </a:xfrm>
          <a:prstGeom prst="rect">
            <a:avLst/>
          </a:prstGeom>
          <a:noFill/>
        </p:spPr>
        <p:txBody>
          <a:bodyPr wrap="square" lIns="0" tIns="0" rIns="0" bIns="0" anchor="t">
            <a:spAutoFit/>
          </a:bodyPr>
          <a:lstStyle/>
          <a:p>
            <a:pPr algn="ctr"/>
            <a:r>
              <a:rPr sz="1420" b="1" i="0">
                <a:solidFill>
                  <a:srgbClr val="0F172A"/>
                </a:solidFill>
                <a:latin typeface="Segoe UI"/>
              </a:rPr>
              <a:t>Families</a:t>
            </a:r>
          </a:p>
        </p:txBody>
      </p:sp>
      <p:sp>
        <p:nvSpPr>
          <p:cNvPr id="27" name="Rounded Rectangle 26"/>
          <p:cNvSpPr/>
          <p:nvPr/>
        </p:nvSpPr>
        <p:spPr>
          <a:xfrm>
            <a:off x="4515366" y="4585716"/>
            <a:ext cx="1691640" cy="658368"/>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15366" y="4786884"/>
            <a:ext cx="1691640" cy="164592"/>
          </a:xfrm>
          <a:prstGeom prst="rect">
            <a:avLst/>
          </a:prstGeom>
          <a:noFill/>
        </p:spPr>
        <p:txBody>
          <a:bodyPr wrap="square" lIns="0" tIns="0" rIns="0" bIns="0" anchor="t">
            <a:spAutoFit/>
          </a:bodyPr>
          <a:lstStyle/>
          <a:p>
            <a:pPr algn="ctr"/>
            <a:r>
              <a:rPr sz="1420" b="1" i="0" dirty="0">
                <a:solidFill>
                  <a:srgbClr val="0F172A"/>
                </a:solidFill>
                <a:latin typeface="Segoe UI"/>
              </a:rPr>
              <a:t>Notifications</a:t>
            </a:r>
          </a:p>
        </p:txBody>
      </p:sp>
      <p:sp>
        <p:nvSpPr>
          <p:cNvPr id="30" name="Rounded Rectangle 29"/>
          <p:cNvSpPr/>
          <p:nvPr/>
        </p:nvSpPr>
        <p:spPr>
          <a:xfrm>
            <a:off x="841248" y="5440680"/>
            <a:ext cx="10972800" cy="4389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1560" y="5559552"/>
            <a:ext cx="10469880" cy="146304"/>
          </a:xfrm>
          <a:prstGeom prst="rect">
            <a:avLst/>
          </a:prstGeom>
          <a:noFill/>
        </p:spPr>
        <p:txBody>
          <a:bodyPr wrap="square" lIns="0" tIns="0" rIns="0" bIns="0" anchor="t">
            <a:spAutoFit/>
          </a:bodyPr>
          <a:lstStyle/>
          <a:p>
            <a:pPr algn="l"/>
            <a:r>
              <a:rPr sz="1220" b="0" i="0">
                <a:solidFill>
                  <a:srgbClr val="475569"/>
                </a:solidFill>
                <a:latin typeface="Segoe UI"/>
              </a:rPr>
              <a:t>Migrations dùng để version hóa schema; seeder/demo data hỗ trợ khởi tạo nhanh dữ liệu cho quá trình test, demo và bảo vệ.</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Bảo mật, xác thực và phân quyền</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Đây là phần quan trọng để chứng minh hệ thống không chỉ có giao diện mà còn có năng lực xử lý dữ liệu an toàn.</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11</a:t>
            </a:r>
          </a:p>
        </p:txBody>
      </p:sp>
      <p:sp>
        <p:nvSpPr>
          <p:cNvPr id="7" name="Rounded Rectangle 6"/>
          <p:cNvSpPr/>
          <p:nvPr/>
        </p:nvSpPr>
        <p:spPr>
          <a:xfrm>
            <a:off x="822960" y="1664208"/>
            <a:ext cx="3108960" cy="425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64208"/>
            <a:ext cx="310896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828800"/>
            <a:ext cx="2743200" cy="164592"/>
          </a:xfrm>
          <a:prstGeom prst="rect">
            <a:avLst/>
          </a:prstGeom>
          <a:noFill/>
        </p:spPr>
        <p:txBody>
          <a:bodyPr wrap="square" lIns="0" tIns="0" rIns="0" bIns="0" anchor="t">
            <a:spAutoFit/>
          </a:bodyPr>
          <a:lstStyle/>
          <a:p>
            <a:pPr algn="l"/>
            <a:r>
              <a:rPr sz="1700" b="1" i="0">
                <a:solidFill>
                  <a:srgbClr val="0F172A"/>
                </a:solidFill>
                <a:latin typeface="Segoe UI"/>
              </a:rPr>
              <a:t>Xác thực</a:t>
            </a:r>
          </a:p>
        </p:txBody>
      </p:sp>
      <p:sp>
        <p:nvSpPr>
          <p:cNvPr id="10" name="TextBox 9"/>
          <p:cNvSpPr txBox="1"/>
          <p:nvPr/>
        </p:nvSpPr>
        <p:spPr>
          <a:xfrm>
            <a:off x="1005840" y="2286000"/>
            <a:ext cx="2743200" cy="342900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Đăng nhập tạo JWT access token.</a:t>
            </a:r>
          </a:p>
          <a:p>
            <a:pPr>
              <a:spcAft>
                <a:spcPts val="500"/>
              </a:spcAft>
            </a:pPr>
            <a:r>
              <a:rPr sz="1420" b="1">
                <a:solidFill>
                  <a:srgbClr val="0EA5E9"/>
                </a:solidFill>
              </a:rPr>
              <a:t>• </a:t>
            </a:r>
            <a:r>
              <a:rPr sz="1420">
                <a:solidFill>
                  <a:srgbClr val="475569"/>
                </a:solidFill>
                <a:latin typeface="Segoe UI"/>
              </a:rPr>
              <a:t>Refresh token hỗ trợ duy trì phiên.</a:t>
            </a:r>
          </a:p>
          <a:p>
            <a:pPr>
              <a:spcAft>
                <a:spcPts val="500"/>
              </a:spcAft>
            </a:pPr>
            <a:r>
              <a:rPr sz="1420" b="1">
                <a:solidFill>
                  <a:srgbClr val="0EA5E9"/>
                </a:solidFill>
              </a:rPr>
              <a:t>• </a:t>
            </a:r>
            <a:r>
              <a:rPr sz="1420">
                <a:solidFill>
                  <a:srgbClr val="475569"/>
                </a:solidFill>
                <a:latin typeface="Segoe UI"/>
              </a:rPr>
              <a:t>Quên mật khẩu và reset password đã được triển khai.</a:t>
            </a:r>
          </a:p>
        </p:txBody>
      </p:sp>
      <p:sp>
        <p:nvSpPr>
          <p:cNvPr id="11" name="Rounded Rectangle 10"/>
          <p:cNvSpPr/>
          <p:nvPr/>
        </p:nvSpPr>
        <p:spPr>
          <a:xfrm>
            <a:off x="4160520" y="1664208"/>
            <a:ext cx="3108960" cy="425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60520" y="1664208"/>
            <a:ext cx="310896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828800"/>
            <a:ext cx="2743200" cy="164592"/>
          </a:xfrm>
          <a:prstGeom prst="rect">
            <a:avLst/>
          </a:prstGeom>
          <a:noFill/>
        </p:spPr>
        <p:txBody>
          <a:bodyPr wrap="square" lIns="0" tIns="0" rIns="0" bIns="0" anchor="t">
            <a:spAutoFit/>
          </a:bodyPr>
          <a:lstStyle/>
          <a:p>
            <a:pPr algn="l"/>
            <a:r>
              <a:rPr sz="1700" b="1" i="0">
                <a:solidFill>
                  <a:srgbClr val="0F172A"/>
                </a:solidFill>
                <a:latin typeface="Segoe UI"/>
              </a:rPr>
              <a:t>Bảo vệ dữ liệu</a:t>
            </a:r>
          </a:p>
        </p:txBody>
      </p:sp>
      <p:sp>
        <p:nvSpPr>
          <p:cNvPr id="14" name="TextBox 13"/>
          <p:cNvSpPr txBox="1"/>
          <p:nvPr/>
        </p:nvSpPr>
        <p:spPr>
          <a:xfrm>
            <a:off x="4343400" y="2286000"/>
            <a:ext cx="2743200" cy="342900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Password được hash bằng bcrypt.</a:t>
            </a:r>
          </a:p>
          <a:p>
            <a:pPr>
              <a:spcAft>
                <a:spcPts val="500"/>
              </a:spcAft>
            </a:pPr>
            <a:r>
              <a:rPr sz="1420" b="1">
                <a:solidFill>
                  <a:srgbClr val="14B8A6"/>
                </a:solidFill>
              </a:rPr>
              <a:t>• </a:t>
            </a:r>
            <a:r>
              <a:rPr sz="1420">
                <a:solidFill>
                  <a:srgbClr val="475569"/>
                </a:solidFill>
                <a:latin typeface="Segoe UI"/>
              </a:rPr>
              <a:t>API dùng middleware auth trước các route protected.</a:t>
            </a:r>
          </a:p>
          <a:p>
            <a:pPr>
              <a:spcAft>
                <a:spcPts val="500"/>
              </a:spcAft>
            </a:pPr>
            <a:r>
              <a:rPr sz="1420" b="1">
                <a:solidFill>
                  <a:srgbClr val="14B8A6"/>
                </a:solidFill>
              </a:rPr>
              <a:t>• </a:t>
            </a:r>
            <a:r>
              <a:rPr sz="1420">
                <a:solidFill>
                  <a:srgbClr val="475569"/>
                </a:solidFill>
                <a:latin typeface="Segoe UI"/>
              </a:rPr>
              <a:t>CORS, Helmet, rate-limit giúp giảm rủi ro phổ biến.</a:t>
            </a:r>
          </a:p>
        </p:txBody>
      </p:sp>
      <p:sp>
        <p:nvSpPr>
          <p:cNvPr id="15" name="Rounded Rectangle 14"/>
          <p:cNvSpPr/>
          <p:nvPr/>
        </p:nvSpPr>
        <p:spPr>
          <a:xfrm>
            <a:off x="7498079" y="1664208"/>
            <a:ext cx="3657600" cy="4251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98079" y="1664208"/>
            <a:ext cx="365760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59" y="1828800"/>
            <a:ext cx="3291840" cy="164592"/>
          </a:xfrm>
          <a:prstGeom prst="rect">
            <a:avLst/>
          </a:prstGeom>
          <a:noFill/>
        </p:spPr>
        <p:txBody>
          <a:bodyPr wrap="square" lIns="0" tIns="0" rIns="0" bIns="0" anchor="t">
            <a:spAutoFit/>
          </a:bodyPr>
          <a:lstStyle/>
          <a:p>
            <a:pPr algn="l"/>
            <a:r>
              <a:rPr sz="1700" b="1" i="0">
                <a:solidFill>
                  <a:srgbClr val="0F172A"/>
                </a:solidFill>
                <a:latin typeface="Segoe UI"/>
              </a:rPr>
              <a:t>Phân quyền</a:t>
            </a:r>
          </a:p>
        </p:txBody>
      </p:sp>
      <p:sp>
        <p:nvSpPr>
          <p:cNvPr id="18" name="TextBox 17"/>
          <p:cNvSpPr txBox="1"/>
          <p:nvPr/>
        </p:nvSpPr>
        <p:spPr>
          <a:xfrm>
            <a:off x="7680959" y="2286000"/>
            <a:ext cx="3291840" cy="342900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Role chính gồm admin, staff, member.</a:t>
            </a:r>
          </a:p>
          <a:p>
            <a:pPr>
              <a:spcAft>
                <a:spcPts val="500"/>
              </a:spcAft>
            </a:pPr>
            <a:r>
              <a:rPr sz="1420" b="1">
                <a:solidFill>
                  <a:srgbClr val="F59E0B"/>
                </a:solidFill>
              </a:rPr>
              <a:t>• </a:t>
            </a:r>
            <a:r>
              <a:rPr sz="1420">
                <a:solidFill>
                  <a:srgbClr val="475569"/>
                </a:solidFill>
                <a:latin typeface="Segoe UI"/>
              </a:rPr>
              <a:t>Mỗi role chỉ được truy cập tập API phù hợp.</a:t>
            </a:r>
          </a:p>
          <a:p>
            <a:pPr>
              <a:spcAft>
                <a:spcPts val="500"/>
              </a:spcAft>
            </a:pPr>
            <a:r>
              <a:rPr sz="1420" b="1">
                <a:solidFill>
                  <a:srgbClr val="F59E0B"/>
                </a:solidFill>
              </a:rPr>
              <a:t>• </a:t>
            </a:r>
            <a:r>
              <a:rPr sz="1420">
                <a:solidFill>
                  <a:srgbClr val="475569"/>
                </a:solidFill>
                <a:latin typeface="Segoe UI"/>
              </a:rPr>
              <a:t>Admin dashboard và luồng quản trị là minh chứng rõ nhất cho RBAC.</a:t>
            </a:r>
          </a:p>
        </p:txBody>
      </p:sp>
      <p:sp>
        <p:nvSpPr>
          <p:cNvPr id="19" name="Rounded Rectangle 18"/>
          <p:cNvSpPr/>
          <p:nvPr/>
        </p:nvSpPr>
        <p:spPr>
          <a:xfrm>
            <a:off x="914400" y="5650992"/>
            <a:ext cx="822960" cy="310896"/>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696712"/>
            <a:ext cx="822960" cy="146304"/>
          </a:xfrm>
          <a:prstGeom prst="rect">
            <a:avLst/>
          </a:prstGeom>
          <a:noFill/>
        </p:spPr>
        <p:txBody>
          <a:bodyPr wrap="square" lIns="0" tIns="0" rIns="0" bIns="0" anchor="t">
            <a:spAutoFit/>
          </a:bodyPr>
          <a:lstStyle/>
          <a:p>
            <a:pPr algn="ctr"/>
            <a:r>
              <a:rPr sz="1050" b="1" i="0">
                <a:solidFill>
                  <a:srgbClr val="0F172A"/>
                </a:solidFill>
                <a:latin typeface="Segoe UI"/>
              </a:rPr>
              <a:t>Admin</a:t>
            </a:r>
          </a:p>
        </p:txBody>
      </p:sp>
      <p:sp>
        <p:nvSpPr>
          <p:cNvPr id="21" name="Rounded Rectangle 20"/>
          <p:cNvSpPr/>
          <p:nvPr/>
        </p:nvSpPr>
        <p:spPr>
          <a:xfrm>
            <a:off x="1847088" y="5650992"/>
            <a:ext cx="822960" cy="310896"/>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47088" y="5696712"/>
            <a:ext cx="822960" cy="146304"/>
          </a:xfrm>
          <a:prstGeom prst="rect">
            <a:avLst/>
          </a:prstGeom>
          <a:noFill/>
        </p:spPr>
        <p:txBody>
          <a:bodyPr wrap="square" lIns="0" tIns="0" rIns="0" bIns="0" anchor="t">
            <a:spAutoFit/>
          </a:bodyPr>
          <a:lstStyle/>
          <a:p>
            <a:pPr algn="ctr"/>
            <a:r>
              <a:rPr sz="1050" b="1" i="0">
                <a:solidFill>
                  <a:srgbClr val="0F172A"/>
                </a:solidFill>
                <a:latin typeface="Segoe UI"/>
              </a:rPr>
              <a:t>Staff</a:t>
            </a:r>
          </a:p>
        </p:txBody>
      </p:sp>
      <p:sp>
        <p:nvSpPr>
          <p:cNvPr id="23" name="Rounded Rectangle 22"/>
          <p:cNvSpPr/>
          <p:nvPr/>
        </p:nvSpPr>
        <p:spPr>
          <a:xfrm>
            <a:off x="2779776" y="5650992"/>
            <a:ext cx="886968" cy="310896"/>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79776" y="5696712"/>
            <a:ext cx="886968" cy="146304"/>
          </a:xfrm>
          <a:prstGeom prst="rect">
            <a:avLst/>
          </a:prstGeom>
          <a:noFill/>
        </p:spPr>
        <p:txBody>
          <a:bodyPr wrap="square" lIns="0" tIns="0" rIns="0" bIns="0" anchor="t">
            <a:spAutoFit/>
          </a:bodyPr>
          <a:lstStyle/>
          <a:p>
            <a:pPr algn="ctr"/>
            <a:r>
              <a:rPr sz="1050" b="1" i="0">
                <a:solidFill>
                  <a:srgbClr val="0F172A"/>
                </a:solidFill>
                <a:latin typeface="Segoe UI"/>
              </a:rPr>
              <a:t>Member</a:t>
            </a:r>
          </a:p>
        </p:txBody>
      </p:sp>
      <p:sp>
        <p:nvSpPr>
          <p:cNvPr id="25" name="Rounded Rectangle 24"/>
          <p:cNvSpPr/>
          <p:nvPr/>
        </p:nvSpPr>
        <p:spPr>
          <a:xfrm>
            <a:off x="3776472" y="5650992"/>
            <a:ext cx="694944" cy="310896"/>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76472" y="5696712"/>
            <a:ext cx="694944" cy="146304"/>
          </a:xfrm>
          <a:prstGeom prst="rect">
            <a:avLst/>
          </a:prstGeom>
          <a:noFill/>
        </p:spPr>
        <p:txBody>
          <a:bodyPr wrap="square" lIns="0" tIns="0" rIns="0" bIns="0" anchor="t">
            <a:spAutoFit/>
          </a:bodyPr>
          <a:lstStyle/>
          <a:p>
            <a:pPr algn="ctr"/>
            <a:r>
              <a:rPr sz="1050" b="1" i="0">
                <a:solidFill>
                  <a:srgbClr val="0F172A"/>
                </a:solidFill>
                <a:latin typeface="Segoe UI"/>
              </a:rPr>
              <a:t>JWT</a:t>
            </a:r>
          </a:p>
        </p:txBody>
      </p:sp>
      <p:sp>
        <p:nvSpPr>
          <p:cNvPr id="27" name="Rounded Rectangle 26"/>
          <p:cNvSpPr/>
          <p:nvPr/>
        </p:nvSpPr>
        <p:spPr>
          <a:xfrm>
            <a:off x="4581144" y="5650992"/>
            <a:ext cx="758952" cy="310896"/>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81144" y="5696712"/>
            <a:ext cx="758952" cy="146304"/>
          </a:xfrm>
          <a:prstGeom prst="rect">
            <a:avLst/>
          </a:prstGeom>
          <a:noFill/>
        </p:spPr>
        <p:txBody>
          <a:bodyPr wrap="square" lIns="0" tIns="0" rIns="0" bIns="0" anchor="t">
            <a:spAutoFit/>
          </a:bodyPr>
          <a:lstStyle/>
          <a:p>
            <a:pPr algn="ctr"/>
            <a:r>
              <a:rPr sz="1050" b="1" i="0">
                <a:solidFill>
                  <a:srgbClr val="0F172A"/>
                </a:solidFill>
                <a:latin typeface="Segoe UI"/>
              </a:rPr>
              <a:t>Hash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Frontend: UI/UX và tư duy component</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Kiến trúc frontend bám đúng mục tiêu của mốc báo cáo tuần 10: SPA, component hóa, responsive và routing mượt.</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12</a:t>
            </a:r>
          </a:p>
        </p:txBody>
      </p:sp>
      <p:sp>
        <p:nvSpPr>
          <p:cNvPr id="7" name="Rounded Rectangle 6"/>
          <p:cNvSpPr/>
          <p:nvPr/>
        </p:nvSpPr>
        <p:spPr>
          <a:xfrm>
            <a:off x="822960" y="1627632"/>
            <a:ext cx="320040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27632"/>
            <a:ext cx="320040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792224"/>
            <a:ext cx="2834640" cy="164592"/>
          </a:xfrm>
          <a:prstGeom prst="rect">
            <a:avLst/>
          </a:prstGeom>
          <a:noFill/>
        </p:spPr>
        <p:txBody>
          <a:bodyPr wrap="square" lIns="0" tIns="0" rIns="0" bIns="0" anchor="t">
            <a:spAutoFit/>
          </a:bodyPr>
          <a:lstStyle/>
          <a:p>
            <a:pPr algn="l"/>
            <a:r>
              <a:rPr sz="1700" b="1" i="0">
                <a:solidFill>
                  <a:srgbClr val="0F172A"/>
                </a:solidFill>
                <a:latin typeface="Segoe UI"/>
              </a:rPr>
              <a:t>Điểm nhấn frontend</a:t>
            </a:r>
          </a:p>
        </p:txBody>
      </p:sp>
      <p:sp>
        <p:nvSpPr>
          <p:cNvPr id="10" name="TextBox 9"/>
          <p:cNvSpPr txBox="1"/>
          <p:nvPr/>
        </p:nvSpPr>
        <p:spPr>
          <a:xfrm>
            <a:off x="1005840" y="2249424"/>
            <a:ext cx="2834640" cy="370332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SPA bằng React, chuyển trang không reload.</a:t>
            </a:r>
          </a:p>
          <a:p>
            <a:pPr>
              <a:spcAft>
                <a:spcPts val="500"/>
              </a:spcAft>
            </a:pPr>
            <a:r>
              <a:rPr sz="1420" b="1">
                <a:solidFill>
                  <a:srgbClr val="0EA5E9"/>
                </a:solidFill>
              </a:rPr>
              <a:t>• </a:t>
            </a:r>
            <a:r>
              <a:rPr sz="1420">
                <a:solidFill>
                  <a:srgbClr val="475569"/>
                </a:solidFill>
                <a:latin typeface="Segoe UI"/>
              </a:rPr>
              <a:t>Redux Toolkit quản lý state và async flow.</a:t>
            </a:r>
          </a:p>
          <a:p>
            <a:pPr>
              <a:spcAft>
                <a:spcPts val="500"/>
              </a:spcAft>
            </a:pPr>
            <a:r>
              <a:rPr sz="1420" b="1">
                <a:solidFill>
                  <a:srgbClr val="0EA5E9"/>
                </a:solidFill>
              </a:rPr>
              <a:t>• </a:t>
            </a:r>
            <a:r>
              <a:rPr sz="1420">
                <a:solidFill>
                  <a:srgbClr val="475569"/>
                </a:solidFill>
                <a:latin typeface="Segoe UI"/>
              </a:rPr>
              <a:t>Formik/Yup hỗ trợ form và validate phía client.</a:t>
            </a:r>
          </a:p>
          <a:p>
            <a:pPr>
              <a:spcAft>
                <a:spcPts val="500"/>
              </a:spcAft>
            </a:pPr>
            <a:r>
              <a:rPr sz="1420" b="1">
                <a:solidFill>
                  <a:srgbClr val="0EA5E9"/>
                </a:solidFill>
              </a:rPr>
              <a:t>• </a:t>
            </a:r>
            <a:r>
              <a:rPr sz="1420">
                <a:solidFill>
                  <a:srgbClr val="475569"/>
                </a:solidFill>
                <a:latin typeface="Segoe UI"/>
              </a:rPr>
              <a:t>Tailwind CSS giúp xây UI nhanh và đồng nhất.</a:t>
            </a:r>
          </a:p>
          <a:p>
            <a:pPr>
              <a:spcAft>
                <a:spcPts val="500"/>
              </a:spcAft>
            </a:pPr>
            <a:r>
              <a:rPr sz="1420" b="1">
                <a:solidFill>
                  <a:srgbClr val="0EA5E9"/>
                </a:solidFill>
              </a:rPr>
              <a:t>• </a:t>
            </a:r>
            <a:r>
              <a:rPr sz="1420">
                <a:solidFill>
                  <a:srgbClr val="475569"/>
                </a:solidFill>
                <a:latin typeface="Segoe UI"/>
              </a:rPr>
              <a:t>Component tái sử dụng giữa nhiều màn hình.</a:t>
            </a:r>
          </a:p>
        </p:txBody>
      </p:sp>
      <p:sp>
        <p:nvSpPr>
          <p:cNvPr id="11" name="Rounded Rectangle 10"/>
          <p:cNvSpPr/>
          <p:nvPr/>
        </p:nvSpPr>
        <p:spPr>
          <a:xfrm>
            <a:off x="4251960" y="1627632"/>
            <a:ext cx="33375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627632"/>
            <a:ext cx="333756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792224"/>
            <a:ext cx="2971800" cy="164592"/>
          </a:xfrm>
          <a:prstGeom prst="rect">
            <a:avLst/>
          </a:prstGeom>
          <a:noFill/>
        </p:spPr>
        <p:txBody>
          <a:bodyPr wrap="square" lIns="0" tIns="0" rIns="0" bIns="0" anchor="t">
            <a:spAutoFit/>
          </a:bodyPr>
          <a:lstStyle/>
          <a:p>
            <a:pPr algn="l"/>
            <a:r>
              <a:rPr sz="1700" b="1" i="0">
                <a:solidFill>
                  <a:srgbClr val="0F172A"/>
                </a:solidFill>
                <a:latin typeface="Segoe UI"/>
              </a:rPr>
              <a:t>Ví dụ component</a:t>
            </a:r>
          </a:p>
        </p:txBody>
      </p:sp>
      <p:sp>
        <p:nvSpPr>
          <p:cNvPr id="14" name="TextBox 13"/>
          <p:cNvSpPr txBox="1"/>
          <p:nvPr/>
        </p:nvSpPr>
        <p:spPr>
          <a:xfrm>
            <a:off x="4434840" y="2249424"/>
            <a:ext cx="2971800" cy="128016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MainLayout, Navbar, Sidebar, Modal</a:t>
            </a:r>
          </a:p>
          <a:p>
            <a:pPr>
              <a:spcAft>
                <a:spcPts val="500"/>
              </a:spcAft>
            </a:pPr>
            <a:r>
              <a:rPr sz="1420" b="1">
                <a:solidFill>
                  <a:srgbClr val="14B8A6"/>
                </a:solidFill>
              </a:rPr>
              <a:t>• </a:t>
            </a:r>
            <a:r>
              <a:rPr sz="1420">
                <a:solidFill>
                  <a:srgbClr val="475569"/>
                </a:solidFill>
                <a:latin typeface="Segoe UI"/>
              </a:rPr>
              <a:t>PageHeader, Card, Table, Form Input</a:t>
            </a:r>
          </a:p>
          <a:p>
            <a:pPr>
              <a:spcAft>
                <a:spcPts val="500"/>
              </a:spcAft>
            </a:pPr>
            <a:r>
              <a:rPr sz="1420" b="1">
                <a:solidFill>
                  <a:srgbClr val="14B8A6"/>
                </a:solidFill>
              </a:rPr>
              <a:t>• </a:t>
            </a:r>
            <a:r>
              <a:rPr sz="1420">
                <a:solidFill>
                  <a:srgbClr val="475569"/>
                </a:solidFill>
                <a:latin typeface="Segoe UI"/>
              </a:rPr>
              <a:t>Chart wrapper, filter bar, responsive grid</a:t>
            </a:r>
          </a:p>
        </p:txBody>
      </p:sp>
      <p:sp>
        <p:nvSpPr>
          <p:cNvPr id="15" name="Rounded Rectangle 14"/>
          <p:cNvSpPr/>
          <p:nvPr/>
        </p:nvSpPr>
        <p:spPr>
          <a:xfrm>
            <a:off x="4251960" y="4041648"/>
            <a:ext cx="33375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251960" y="4041648"/>
            <a:ext cx="333756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4206240"/>
            <a:ext cx="2971800" cy="164592"/>
          </a:xfrm>
          <a:prstGeom prst="rect">
            <a:avLst/>
          </a:prstGeom>
          <a:noFill/>
        </p:spPr>
        <p:txBody>
          <a:bodyPr wrap="square" lIns="0" tIns="0" rIns="0" bIns="0" anchor="t">
            <a:spAutoFit/>
          </a:bodyPr>
          <a:lstStyle/>
          <a:p>
            <a:pPr algn="l"/>
            <a:r>
              <a:rPr sz="1700" b="1" i="0">
                <a:solidFill>
                  <a:srgbClr val="0F172A"/>
                </a:solidFill>
                <a:latin typeface="Segoe UI"/>
              </a:rPr>
              <a:t>Responsive</a:t>
            </a:r>
          </a:p>
        </p:txBody>
      </p:sp>
      <p:sp>
        <p:nvSpPr>
          <p:cNvPr id="18" name="TextBox 17"/>
          <p:cNvSpPr txBox="1"/>
          <p:nvPr/>
        </p:nvSpPr>
        <p:spPr>
          <a:xfrm>
            <a:off x="4434840" y="4663440"/>
            <a:ext cx="2971800" cy="128016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Bố cục thích ứng desktop, tablet, mobile.</a:t>
            </a:r>
          </a:p>
          <a:p>
            <a:pPr>
              <a:spcAft>
                <a:spcPts val="500"/>
              </a:spcAft>
            </a:pPr>
            <a:r>
              <a:rPr sz="1420" b="1">
                <a:solidFill>
                  <a:srgbClr val="F59E0B"/>
                </a:solidFill>
              </a:rPr>
              <a:t>• </a:t>
            </a:r>
            <a:r>
              <a:rPr sz="1420">
                <a:solidFill>
                  <a:srgbClr val="475569"/>
                </a:solidFill>
                <a:latin typeface="Segoe UI"/>
              </a:rPr>
              <a:t>Giảm mật độ thông tin ở màn hình nhỏ.</a:t>
            </a:r>
          </a:p>
          <a:p>
            <a:pPr>
              <a:spcAft>
                <a:spcPts val="500"/>
              </a:spcAft>
            </a:pPr>
            <a:r>
              <a:rPr sz="1420" b="1">
                <a:solidFill>
                  <a:srgbClr val="F59E0B"/>
                </a:solidFill>
              </a:rPr>
              <a:t>• </a:t>
            </a:r>
            <a:r>
              <a:rPr sz="1420">
                <a:solidFill>
                  <a:srgbClr val="475569"/>
                </a:solidFill>
                <a:latin typeface="Segoe UI"/>
              </a:rPr>
              <a:t>Không phá flow thao tác khi đổi kích thước.</a:t>
            </a:r>
          </a:p>
        </p:txBody>
      </p:sp>
      <p:sp>
        <p:nvSpPr>
          <p:cNvPr id="19" name="Rounded Rectangle 18"/>
          <p:cNvSpPr/>
          <p:nvPr/>
        </p:nvSpPr>
        <p:spPr>
          <a:xfrm>
            <a:off x="7818120" y="1627632"/>
            <a:ext cx="338328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dashboard.png"/>
          <p:cNvPicPr>
            <a:picLocks noChangeAspect="1"/>
          </p:cNvPicPr>
          <p:nvPr/>
        </p:nvPicPr>
        <p:blipFill>
          <a:blip r:embed="rId2"/>
          <a:stretch>
            <a:fillRect/>
          </a:stretch>
        </p:blipFill>
        <p:spPr>
          <a:xfrm>
            <a:off x="7927848" y="2660700"/>
            <a:ext cx="3163824" cy="2249830"/>
          </a:xfrm>
          <a:prstGeom prst="rect">
            <a:avLst/>
          </a:prstGeom>
        </p:spPr>
      </p:pic>
      <p:sp>
        <p:nvSpPr>
          <p:cNvPr id="21" name="TextBox 20"/>
          <p:cNvSpPr txBox="1"/>
          <p:nvPr/>
        </p:nvSpPr>
        <p:spPr>
          <a:xfrm>
            <a:off x="7946136" y="5934456"/>
            <a:ext cx="3127248" cy="128016"/>
          </a:xfrm>
          <a:prstGeom prst="rect">
            <a:avLst/>
          </a:prstGeom>
          <a:noFill/>
        </p:spPr>
        <p:txBody>
          <a:bodyPr wrap="square" lIns="0" tIns="0" rIns="0" bIns="0" anchor="t">
            <a:spAutoFit/>
          </a:bodyPr>
          <a:lstStyle/>
          <a:p>
            <a:pPr algn="ctr"/>
            <a:r>
              <a:rPr sz="1050" b="1" i="0">
                <a:solidFill>
                  <a:srgbClr val="64748B"/>
                </a:solidFill>
                <a:latin typeface="Segoe UI"/>
              </a:rPr>
              <a:t>Dashboard thực tế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Các màn hình chính trên frontend</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Slide này rất phù hợp để nói nhanh về những phần mà hội đồng nhìn thấy trực tiếp trên trình duyệt.</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13</a:t>
            </a:r>
          </a:p>
        </p:txBody>
      </p:sp>
      <p:sp>
        <p:nvSpPr>
          <p:cNvPr id="7" name="Rounded Rectangle 6"/>
          <p:cNvSpPr/>
          <p:nvPr/>
        </p:nvSpPr>
        <p:spPr>
          <a:xfrm>
            <a:off x="786384" y="1572768"/>
            <a:ext cx="32004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ashboard.png"/>
          <p:cNvPicPr>
            <a:picLocks noChangeAspect="1"/>
          </p:cNvPicPr>
          <p:nvPr/>
        </p:nvPicPr>
        <p:blipFill>
          <a:blip r:embed="rId2"/>
          <a:stretch>
            <a:fillRect/>
          </a:stretch>
        </p:blipFill>
        <p:spPr>
          <a:xfrm>
            <a:off x="1242155" y="1682496"/>
            <a:ext cx="2288857" cy="1627632"/>
          </a:xfrm>
          <a:prstGeom prst="rect">
            <a:avLst/>
          </a:prstGeom>
        </p:spPr>
      </p:pic>
      <p:sp>
        <p:nvSpPr>
          <p:cNvPr id="9" name="TextBox 8"/>
          <p:cNvSpPr txBox="1"/>
          <p:nvPr/>
        </p:nvSpPr>
        <p:spPr>
          <a:xfrm>
            <a:off x="914400" y="3410712"/>
            <a:ext cx="2944368" cy="128016"/>
          </a:xfrm>
          <a:prstGeom prst="rect">
            <a:avLst/>
          </a:prstGeom>
          <a:noFill/>
        </p:spPr>
        <p:txBody>
          <a:bodyPr wrap="square" lIns="0" tIns="0" rIns="0" bIns="0" anchor="t">
            <a:spAutoFit/>
          </a:bodyPr>
          <a:lstStyle/>
          <a:p>
            <a:pPr algn="ctr"/>
            <a:r>
              <a:rPr sz="1050" b="1" i="0">
                <a:solidFill>
                  <a:srgbClr val="64748B"/>
                </a:solidFill>
                <a:latin typeface="Segoe UI"/>
              </a:rPr>
              <a:t>Dashboard</a:t>
            </a:r>
          </a:p>
        </p:txBody>
      </p:sp>
      <p:sp>
        <p:nvSpPr>
          <p:cNvPr id="10" name="Rounded Rectangle 9"/>
          <p:cNvSpPr/>
          <p:nvPr/>
        </p:nvSpPr>
        <p:spPr>
          <a:xfrm>
            <a:off x="4160520" y="1572768"/>
            <a:ext cx="32004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ransactions.png"/>
          <p:cNvPicPr>
            <a:picLocks noChangeAspect="1"/>
          </p:cNvPicPr>
          <p:nvPr/>
        </p:nvPicPr>
        <p:blipFill>
          <a:blip r:embed="rId3"/>
          <a:stretch>
            <a:fillRect/>
          </a:stretch>
        </p:blipFill>
        <p:spPr>
          <a:xfrm>
            <a:off x="4616291" y="1682496"/>
            <a:ext cx="2288857" cy="1627632"/>
          </a:xfrm>
          <a:prstGeom prst="rect">
            <a:avLst/>
          </a:prstGeom>
        </p:spPr>
      </p:pic>
      <p:sp>
        <p:nvSpPr>
          <p:cNvPr id="12" name="TextBox 11"/>
          <p:cNvSpPr txBox="1"/>
          <p:nvPr/>
        </p:nvSpPr>
        <p:spPr>
          <a:xfrm>
            <a:off x="4288536" y="3410712"/>
            <a:ext cx="2944368" cy="128016"/>
          </a:xfrm>
          <a:prstGeom prst="rect">
            <a:avLst/>
          </a:prstGeom>
          <a:noFill/>
        </p:spPr>
        <p:txBody>
          <a:bodyPr wrap="square" lIns="0" tIns="0" rIns="0" bIns="0" anchor="t">
            <a:spAutoFit/>
          </a:bodyPr>
          <a:lstStyle/>
          <a:p>
            <a:pPr algn="ctr"/>
            <a:r>
              <a:rPr sz="1050" b="1" i="0">
                <a:solidFill>
                  <a:srgbClr val="64748B"/>
                </a:solidFill>
                <a:latin typeface="Segoe UI"/>
              </a:rPr>
              <a:t>Transactions</a:t>
            </a:r>
          </a:p>
        </p:txBody>
      </p:sp>
      <p:sp>
        <p:nvSpPr>
          <p:cNvPr id="13" name="Rounded Rectangle 12"/>
          <p:cNvSpPr/>
          <p:nvPr/>
        </p:nvSpPr>
        <p:spPr>
          <a:xfrm>
            <a:off x="7534656" y="1572768"/>
            <a:ext cx="36118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goals.png"/>
          <p:cNvPicPr>
            <a:picLocks noChangeAspect="1"/>
          </p:cNvPicPr>
          <p:nvPr/>
        </p:nvPicPr>
        <p:blipFill>
          <a:blip r:embed="rId4"/>
          <a:stretch>
            <a:fillRect/>
          </a:stretch>
        </p:blipFill>
        <p:spPr>
          <a:xfrm>
            <a:off x="8196167" y="1682496"/>
            <a:ext cx="2288857" cy="1627632"/>
          </a:xfrm>
          <a:prstGeom prst="rect">
            <a:avLst/>
          </a:prstGeom>
        </p:spPr>
      </p:pic>
      <p:sp>
        <p:nvSpPr>
          <p:cNvPr id="15" name="TextBox 14"/>
          <p:cNvSpPr txBox="1"/>
          <p:nvPr/>
        </p:nvSpPr>
        <p:spPr>
          <a:xfrm>
            <a:off x="7662672" y="3410712"/>
            <a:ext cx="3355848" cy="128016"/>
          </a:xfrm>
          <a:prstGeom prst="rect">
            <a:avLst/>
          </a:prstGeom>
          <a:noFill/>
        </p:spPr>
        <p:txBody>
          <a:bodyPr wrap="square" lIns="0" tIns="0" rIns="0" bIns="0" anchor="t">
            <a:spAutoFit/>
          </a:bodyPr>
          <a:lstStyle/>
          <a:p>
            <a:pPr algn="ctr"/>
            <a:r>
              <a:rPr sz="1050" b="1" i="0">
                <a:solidFill>
                  <a:srgbClr val="64748B"/>
                </a:solidFill>
                <a:latin typeface="Segoe UI"/>
              </a:rPr>
              <a:t>Goals</a:t>
            </a:r>
          </a:p>
        </p:txBody>
      </p:sp>
      <p:sp>
        <p:nvSpPr>
          <p:cNvPr id="16" name="Rounded Rectangle 15"/>
          <p:cNvSpPr/>
          <p:nvPr/>
        </p:nvSpPr>
        <p:spPr>
          <a:xfrm>
            <a:off x="786384" y="3840480"/>
            <a:ext cx="32004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family.png"/>
          <p:cNvPicPr>
            <a:picLocks noChangeAspect="1"/>
          </p:cNvPicPr>
          <p:nvPr/>
        </p:nvPicPr>
        <p:blipFill>
          <a:blip r:embed="rId5"/>
          <a:stretch>
            <a:fillRect/>
          </a:stretch>
        </p:blipFill>
        <p:spPr>
          <a:xfrm>
            <a:off x="1242155" y="3950208"/>
            <a:ext cx="2288857" cy="1627632"/>
          </a:xfrm>
          <a:prstGeom prst="rect">
            <a:avLst/>
          </a:prstGeom>
        </p:spPr>
      </p:pic>
      <p:sp>
        <p:nvSpPr>
          <p:cNvPr id="18" name="TextBox 17"/>
          <p:cNvSpPr txBox="1"/>
          <p:nvPr/>
        </p:nvSpPr>
        <p:spPr>
          <a:xfrm>
            <a:off x="914400" y="5678424"/>
            <a:ext cx="2944368" cy="128016"/>
          </a:xfrm>
          <a:prstGeom prst="rect">
            <a:avLst/>
          </a:prstGeom>
          <a:noFill/>
        </p:spPr>
        <p:txBody>
          <a:bodyPr wrap="square" lIns="0" tIns="0" rIns="0" bIns="0" anchor="t">
            <a:spAutoFit/>
          </a:bodyPr>
          <a:lstStyle/>
          <a:p>
            <a:pPr algn="ctr"/>
            <a:r>
              <a:rPr sz="1050" b="1" i="0">
                <a:solidFill>
                  <a:srgbClr val="64748B"/>
                </a:solidFill>
                <a:latin typeface="Segoe UI"/>
              </a:rPr>
              <a:t>Family / Shared Expense</a:t>
            </a:r>
          </a:p>
        </p:txBody>
      </p:sp>
      <p:sp>
        <p:nvSpPr>
          <p:cNvPr id="19" name="Rounded Rectangle 18"/>
          <p:cNvSpPr/>
          <p:nvPr/>
        </p:nvSpPr>
        <p:spPr>
          <a:xfrm>
            <a:off x="4160520" y="3840480"/>
            <a:ext cx="320040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admin.png"/>
          <p:cNvPicPr>
            <a:picLocks noChangeAspect="1"/>
          </p:cNvPicPr>
          <p:nvPr/>
        </p:nvPicPr>
        <p:blipFill>
          <a:blip r:embed="rId6"/>
          <a:stretch>
            <a:fillRect/>
          </a:stretch>
        </p:blipFill>
        <p:spPr>
          <a:xfrm>
            <a:off x="5191286" y="3950208"/>
            <a:ext cx="1138867" cy="1627632"/>
          </a:xfrm>
          <a:prstGeom prst="rect">
            <a:avLst/>
          </a:prstGeom>
        </p:spPr>
      </p:pic>
      <p:sp>
        <p:nvSpPr>
          <p:cNvPr id="21" name="TextBox 20"/>
          <p:cNvSpPr txBox="1"/>
          <p:nvPr/>
        </p:nvSpPr>
        <p:spPr>
          <a:xfrm>
            <a:off x="4288536" y="5678424"/>
            <a:ext cx="2944368" cy="128016"/>
          </a:xfrm>
          <a:prstGeom prst="rect">
            <a:avLst/>
          </a:prstGeom>
          <a:noFill/>
        </p:spPr>
        <p:txBody>
          <a:bodyPr wrap="square" lIns="0" tIns="0" rIns="0" bIns="0" anchor="t">
            <a:spAutoFit/>
          </a:bodyPr>
          <a:lstStyle/>
          <a:p>
            <a:pPr algn="ctr"/>
            <a:r>
              <a:rPr sz="1050" b="1" i="0">
                <a:solidFill>
                  <a:srgbClr val="64748B"/>
                </a:solidFill>
                <a:latin typeface="Segoe UI"/>
              </a:rPr>
              <a:t>Admin Dashboard</a:t>
            </a:r>
          </a:p>
        </p:txBody>
      </p:sp>
      <p:sp>
        <p:nvSpPr>
          <p:cNvPr id="22" name="Rounded Rectangle 21"/>
          <p:cNvSpPr/>
          <p:nvPr/>
        </p:nvSpPr>
        <p:spPr>
          <a:xfrm>
            <a:off x="7534656" y="3840480"/>
            <a:ext cx="36118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35824" y="4078224"/>
            <a:ext cx="3154680" cy="1417320"/>
          </a:xfrm>
          <a:prstGeom prst="rect">
            <a:avLst/>
          </a:prstGeom>
          <a:noFill/>
        </p:spPr>
        <p:txBody>
          <a:bodyPr wrap="square">
            <a:spAutoFit/>
          </a:bodyPr>
          <a:lstStyle/>
          <a:p>
            <a:pPr>
              <a:spcAft>
                <a:spcPts val="500"/>
              </a:spcAft>
            </a:pPr>
            <a:r>
              <a:rPr sz="1420" b="1">
                <a:solidFill>
                  <a:srgbClr val="22C55E"/>
                </a:solidFill>
              </a:rPr>
              <a:t>• </a:t>
            </a:r>
            <a:r>
              <a:rPr sz="1420">
                <a:solidFill>
                  <a:srgbClr val="475569"/>
                </a:solidFill>
                <a:latin typeface="Segoe UI"/>
              </a:rPr>
              <a:t>Các màn hình đã đủ để thể hiện luồng người dùng và luồng quản trị.</a:t>
            </a:r>
          </a:p>
          <a:p>
            <a:pPr>
              <a:spcAft>
                <a:spcPts val="500"/>
              </a:spcAft>
            </a:pPr>
            <a:r>
              <a:rPr sz="1420" b="1">
                <a:solidFill>
                  <a:srgbClr val="22C55E"/>
                </a:solidFill>
              </a:rPr>
              <a:t>• </a:t>
            </a:r>
            <a:r>
              <a:rPr sz="1420">
                <a:solidFill>
                  <a:srgbClr val="475569"/>
                </a:solidFill>
                <a:latin typeface="Segoe UI"/>
              </a:rPr>
              <a:t>Có thể lấy ngay các màn hình này làm minh họa chính trong buổi demo.</a:t>
            </a:r>
          </a:p>
          <a:p>
            <a:pPr>
              <a:spcAft>
                <a:spcPts val="500"/>
              </a:spcAft>
            </a:pPr>
            <a:r>
              <a:rPr sz="1420" b="1">
                <a:solidFill>
                  <a:srgbClr val="22C55E"/>
                </a:solidFill>
              </a:rPr>
              <a:t>• </a:t>
            </a:r>
            <a:r>
              <a:rPr sz="1420">
                <a:solidFill>
                  <a:srgbClr val="475569"/>
                </a:solidFill>
                <a:latin typeface="Segoe UI"/>
              </a:rPr>
              <a:t>Ảnh đã được nhúng vào PPT nên không phụ thuộc file ngoài khi mở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Backend: RESTful API và tài liệu kỹ thuật</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Backend trả JSON chuẩn, có Swagger để mở trực tiếp trong lúc bảo vệ.</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14</a:t>
            </a:r>
          </a:p>
        </p:txBody>
      </p:sp>
      <p:sp>
        <p:nvSpPr>
          <p:cNvPr id="7" name="Rounded Rectangle 6"/>
          <p:cNvSpPr/>
          <p:nvPr/>
        </p:nvSpPr>
        <p:spPr>
          <a:xfrm>
            <a:off x="822960" y="1627632"/>
            <a:ext cx="379476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847088"/>
            <a:ext cx="2560320" cy="164592"/>
          </a:xfrm>
          <a:prstGeom prst="rect">
            <a:avLst/>
          </a:prstGeom>
          <a:noFill/>
        </p:spPr>
        <p:txBody>
          <a:bodyPr wrap="square" lIns="0" tIns="0" rIns="0" bIns="0" anchor="t">
            <a:spAutoFit/>
          </a:bodyPr>
          <a:lstStyle/>
          <a:p>
            <a:pPr algn="l"/>
            <a:r>
              <a:rPr sz="1800" b="1" i="0">
                <a:solidFill>
                  <a:srgbClr val="0F172A"/>
                </a:solidFill>
                <a:latin typeface="Segoe UI"/>
              </a:rPr>
              <a:t>Các nhóm API chính</a:t>
            </a:r>
          </a:p>
        </p:txBody>
      </p:sp>
      <p:sp>
        <p:nvSpPr>
          <p:cNvPr id="9" name="TextBox 8"/>
          <p:cNvSpPr txBox="1"/>
          <p:nvPr/>
        </p:nvSpPr>
        <p:spPr>
          <a:xfrm>
            <a:off x="1024128" y="2176272"/>
            <a:ext cx="3246120" cy="3474720"/>
          </a:xfrm>
          <a:prstGeom prst="rect">
            <a:avLst/>
          </a:prstGeom>
          <a:noFill/>
        </p:spPr>
        <p:txBody>
          <a:bodyPr wrap="square">
            <a:spAutoFit/>
          </a:bodyPr>
          <a:lstStyle/>
          <a:p>
            <a:pPr>
              <a:spcAft>
                <a:spcPts val="500"/>
              </a:spcAft>
            </a:pPr>
            <a:r>
              <a:rPr sz="1540" b="1">
                <a:solidFill>
                  <a:srgbClr val="14B8A6"/>
                </a:solidFill>
              </a:rPr>
              <a:t>• </a:t>
            </a:r>
            <a:r>
              <a:rPr sz="1540">
                <a:solidFill>
                  <a:srgbClr val="475569"/>
                </a:solidFill>
                <a:latin typeface="Segoe UI"/>
              </a:rPr>
              <a:t>/api/auth</a:t>
            </a:r>
          </a:p>
          <a:p>
            <a:pPr>
              <a:spcAft>
                <a:spcPts val="500"/>
              </a:spcAft>
            </a:pPr>
            <a:r>
              <a:rPr sz="1540" b="1">
                <a:solidFill>
                  <a:srgbClr val="14B8A6"/>
                </a:solidFill>
              </a:rPr>
              <a:t>• </a:t>
            </a:r>
            <a:r>
              <a:rPr sz="1540">
                <a:solidFill>
                  <a:srgbClr val="475569"/>
                </a:solidFill>
                <a:latin typeface="Segoe UI"/>
              </a:rPr>
              <a:t>/api/transactions</a:t>
            </a:r>
          </a:p>
          <a:p>
            <a:pPr>
              <a:spcAft>
                <a:spcPts val="500"/>
              </a:spcAft>
            </a:pPr>
            <a:r>
              <a:rPr sz="1540" b="1">
                <a:solidFill>
                  <a:srgbClr val="14B8A6"/>
                </a:solidFill>
              </a:rPr>
              <a:t>• </a:t>
            </a:r>
            <a:r>
              <a:rPr sz="1540">
                <a:solidFill>
                  <a:srgbClr val="475569"/>
                </a:solidFill>
                <a:latin typeface="Segoe UI"/>
              </a:rPr>
              <a:t>/api/wallets</a:t>
            </a:r>
          </a:p>
          <a:p>
            <a:pPr>
              <a:spcAft>
                <a:spcPts val="500"/>
              </a:spcAft>
            </a:pPr>
            <a:r>
              <a:rPr sz="1540" b="1">
                <a:solidFill>
                  <a:srgbClr val="14B8A6"/>
                </a:solidFill>
              </a:rPr>
              <a:t>• </a:t>
            </a:r>
            <a:r>
              <a:rPr sz="1540">
                <a:solidFill>
                  <a:srgbClr val="475569"/>
                </a:solidFill>
                <a:latin typeface="Segoe UI"/>
              </a:rPr>
              <a:t>/api/budgets</a:t>
            </a:r>
          </a:p>
          <a:p>
            <a:pPr>
              <a:spcAft>
                <a:spcPts val="500"/>
              </a:spcAft>
            </a:pPr>
            <a:r>
              <a:rPr sz="1540" b="1">
                <a:solidFill>
                  <a:srgbClr val="14B8A6"/>
                </a:solidFill>
              </a:rPr>
              <a:t>• </a:t>
            </a:r>
            <a:r>
              <a:rPr sz="1540">
                <a:solidFill>
                  <a:srgbClr val="475569"/>
                </a:solidFill>
                <a:latin typeface="Segoe UI"/>
              </a:rPr>
              <a:t>/api/goals</a:t>
            </a:r>
          </a:p>
          <a:p>
            <a:pPr>
              <a:spcAft>
                <a:spcPts val="500"/>
              </a:spcAft>
            </a:pPr>
            <a:r>
              <a:rPr sz="1540" b="1">
                <a:solidFill>
                  <a:srgbClr val="14B8A6"/>
                </a:solidFill>
              </a:rPr>
              <a:t>• </a:t>
            </a:r>
            <a:r>
              <a:rPr sz="1540">
                <a:solidFill>
                  <a:srgbClr val="475569"/>
                </a:solidFill>
                <a:latin typeface="Segoe UI"/>
              </a:rPr>
              <a:t>/api/families</a:t>
            </a:r>
          </a:p>
          <a:p>
            <a:pPr>
              <a:spcAft>
                <a:spcPts val="500"/>
              </a:spcAft>
            </a:pPr>
            <a:r>
              <a:rPr sz="1540" b="1">
                <a:solidFill>
                  <a:srgbClr val="14B8A6"/>
                </a:solidFill>
              </a:rPr>
              <a:t>• </a:t>
            </a:r>
            <a:r>
              <a:rPr sz="1540">
                <a:solidFill>
                  <a:srgbClr val="475569"/>
                </a:solidFill>
                <a:latin typeface="Segoe UI"/>
              </a:rPr>
              <a:t>/api/admin/*</a:t>
            </a:r>
          </a:p>
        </p:txBody>
      </p:sp>
      <p:sp>
        <p:nvSpPr>
          <p:cNvPr id="10" name="Rounded Rectangle 9"/>
          <p:cNvSpPr/>
          <p:nvPr/>
        </p:nvSpPr>
        <p:spPr>
          <a:xfrm>
            <a:off x="4846320" y="1627632"/>
            <a:ext cx="635508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74336" y="5934456"/>
            <a:ext cx="6099048" cy="128016"/>
          </a:xfrm>
          <a:prstGeom prst="rect">
            <a:avLst/>
          </a:prstGeom>
          <a:noFill/>
        </p:spPr>
        <p:txBody>
          <a:bodyPr wrap="square" lIns="0" tIns="0" rIns="0" bIns="0" anchor="t">
            <a:spAutoFit/>
          </a:bodyPr>
          <a:lstStyle/>
          <a:p>
            <a:pPr algn="ctr"/>
            <a:r>
              <a:rPr sz="1050" b="1" i="0">
                <a:solidFill>
                  <a:srgbClr val="64748B"/>
                </a:solidFill>
                <a:latin typeface="Segoe UI"/>
              </a:rPr>
              <a:t>Swagger UI phục vụ minh chứng input, output và thử API nhanh</a:t>
            </a:r>
          </a:p>
        </p:txBody>
      </p:sp>
      <p:pic>
        <p:nvPicPr>
          <p:cNvPr id="14" name="Picture 13">
            <a:extLst>
              <a:ext uri="{FF2B5EF4-FFF2-40B4-BE49-F238E27FC236}">
                <a16:creationId xmlns:a16="http://schemas.microsoft.com/office/drawing/2014/main" id="{58034AC2-0455-0B67-020F-FE189742D91A}"/>
              </a:ext>
            </a:extLst>
          </p:cNvPr>
          <p:cNvPicPr>
            <a:picLocks noChangeAspect="1"/>
          </p:cNvPicPr>
          <p:nvPr/>
        </p:nvPicPr>
        <p:blipFill>
          <a:blip r:embed="rId2"/>
          <a:stretch>
            <a:fillRect/>
          </a:stretch>
        </p:blipFill>
        <p:spPr>
          <a:xfrm>
            <a:off x="5102949" y="1820322"/>
            <a:ext cx="5841822" cy="39214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Luồng tích hợp từ frontend đến database</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Đây là slide giúp nối frontend và backend lại thành một câu chuyện hoàn chỉnh trong buổi báo cáo.</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15</a:t>
            </a:r>
          </a:p>
        </p:txBody>
      </p:sp>
      <p:sp>
        <p:nvSpPr>
          <p:cNvPr id="7" name="Rounded Rectangle 6"/>
          <p:cNvSpPr/>
          <p:nvPr/>
        </p:nvSpPr>
        <p:spPr>
          <a:xfrm>
            <a:off x="841248" y="1700784"/>
            <a:ext cx="10351008" cy="8595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05840" y="1856232"/>
            <a:ext cx="530352" cy="512064"/>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993392"/>
            <a:ext cx="530352" cy="128016"/>
          </a:xfrm>
          <a:prstGeom prst="rect">
            <a:avLst/>
          </a:prstGeom>
          <a:noFill/>
        </p:spPr>
        <p:txBody>
          <a:bodyPr wrap="square" lIns="0" tIns="0" rIns="0" bIns="0" anchor="t">
            <a:spAutoFit/>
          </a:bodyPr>
          <a:lstStyle/>
          <a:p>
            <a:pPr algn="ctr"/>
            <a:r>
              <a:rPr sz="1300" b="1" i="0">
                <a:solidFill>
                  <a:srgbClr val="0F172A"/>
                </a:solidFill>
                <a:latin typeface="Segoe UI"/>
              </a:rPr>
              <a:t>1</a:t>
            </a:r>
          </a:p>
        </p:txBody>
      </p:sp>
      <p:sp>
        <p:nvSpPr>
          <p:cNvPr id="10" name="TextBox 9"/>
          <p:cNvSpPr txBox="1"/>
          <p:nvPr/>
        </p:nvSpPr>
        <p:spPr>
          <a:xfrm>
            <a:off x="1810511" y="1865376"/>
            <a:ext cx="3695553" cy="253916"/>
          </a:xfrm>
          <a:prstGeom prst="rect">
            <a:avLst/>
          </a:prstGeom>
          <a:noFill/>
        </p:spPr>
        <p:txBody>
          <a:bodyPr wrap="square" lIns="0" tIns="0" rIns="0" bIns="0" anchor="t">
            <a:spAutoFit/>
          </a:bodyPr>
          <a:lstStyle/>
          <a:p>
            <a:pPr algn="l"/>
            <a:r>
              <a:rPr sz="1650" b="1" i="0" dirty="0" err="1">
                <a:solidFill>
                  <a:srgbClr val="0F172A"/>
                </a:solidFill>
                <a:latin typeface="Segoe UI"/>
              </a:rPr>
              <a:t>Người</a:t>
            </a:r>
            <a:r>
              <a:rPr sz="1650" b="1" i="0" dirty="0">
                <a:solidFill>
                  <a:srgbClr val="0F172A"/>
                </a:solidFill>
                <a:latin typeface="Segoe UI"/>
              </a:rPr>
              <a:t> </a:t>
            </a:r>
            <a:r>
              <a:rPr sz="1650" b="1" i="0" dirty="0" err="1">
                <a:solidFill>
                  <a:srgbClr val="0F172A"/>
                </a:solidFill>
                <a:latin typeface="Segoe UI"/>
              </a:rPr>
              <a:t>dùng</a:t>
            </a:r>
            <a:r>
              <a:rPr sz="1650" b="1" i="0" dirty="0">
                <a:solidFill>
                  <a:srgbClr val="0F172A"/>
                </a:solidFill>
                <a:latin typeface="Segoe UI"/>
              </a:rPr>
              <a:t> </a:t>
            </a:r>
            <a:r>
              <a:rPr sz="1650" b="1" i="0" dirty="0" err="1">
                <a:solidFill>
                  <a:srgbClr val="0F172A"/>
                </a:solidFill>
                <a:latin typeface="Segoe UI"/>
              </a:rPr>
              <a:t>thao</a:t>
            </a:r>
            <a:r>
              <a:rPr sz="1650" b="1" i="0" dirty="0">
                <a:solidFill>
                  <a:srgbClr val="0F172A"/>
                </a:solidFill>
                <a:latin typeface="Segoe UI"/>
              </a:rPr>
              <a:t> </a:t>
            </a:r>
            <a:r>
              <a:rPr sz="1650" b="1" i="0" dirty="0" err="1">
                <a:solidFill>
                  <a:srgbClr val="0F172A"/>
                </a:solidFill>
                <a:latin typeface="Segoe UI"/>
              </a:rPr>
              <a:t>tác</a:t>
            </a:r>
            <a:r>
              <a:rPr sz="1650" b="1" i="0" dirty="0">
                <a:solidFill>
                  <a:srgbClr val="0F172A"/>
                </a:solidFill>
                <a:latin typeface="Segoe UI"/>
              </a:rPr>
              <a:t> </a:t>
            </a:r>
            <a:r>
              <a:rPr sz="1650" b="1" i="0" dirty="0" err="1">
                <a:solidFill>
                  <a:srgbClr val="0F172A"/>
                </a:solidFill>
                <a:latin typeface="Segoe UI"/>
              </a:rPr>
              <a:t>trên</a:t>
            </a:r>
            <a:r>
              <a:rPr sz="1650" b="1" i="0" dirty="0">
                <a:solidFill>
                  <a:srgbClr val="0F172A"/>
                </a:solidFill>
                <a:latin typeface="Segoe UI"/>
              </a:rPr>
              <a:t> </a:t>
            </a:r>
            <a:r>
              <a:rPr sz="1650" b="1" i="0" dirty="0" err="1">
                <a:solidFill>
                  <a:srgbClr val="0F172A"/>
                </a:solidFill>
                <a:latin typeface="Segoe UI"/>
              </a:rPr>
              <a:t>giao</a:t>
            </a:r>
            <a:r>
              <a:rPr sz="1650" b="1" i="0" dirty="0">
                <a:solidFill>
                  <a:srgbClr val="0F172A"/>
                </a:solidFill>
                <a:latin typeface="Segoe UI"/>
              </a:rPr>
              <a:t> </a:t>
            </a:r>
            <a:r>
              <a:rPr sz="1650" b="1" i="0" dirty="0" err="1">
                <a:solidFill>
                  <a:srgbClr val="0F172A"/>
                </a:solidFill>
                <a:latin typeface="Segoe UI"/>
              </a:rPr>
              <a:t>diện</a:t>
            </a:r>
            <a:endParaRPr sz="1650" b="1" i="0" dirty="0">
              <a:solidFill>
                <a:srgbClr val="0F172A"/>
              </a:solidFill>
              <a:latin typeface="Segoe UI"/>
            </a:endParaRPr>
          </a:p>
        </p:txBody>
      </p:sp>
      <p:sp>
        <p:nvSpPr>
          <p:cNvPr id="11" name="TextBox 10"/>
          <p:cNvSpPr txBox="1"/>
          <p:nvPr/>
        </p:nvSpPr>
        <p:spPr>
          <a:xfrm>
            <a:off x="1810512" y="2139696"/>
            <a:ext cx="7955279" cy="146304"/>
          </a:xfrm>
          <a:prstGeom prst="rect">
            <a:avLst/>
          </a:prstGeom>
          <a:noFill/>
        </p:spPr>
        <p:txBody>
          <a:bodyPr wrap="square" lIns="0" tIns="0" rIns="0" bIns="0" anchor="t">
            <a:spAutoFit/>
          </a:bodyPr>
          <a:lstStyle/>
          <a:p>
            <a:pPr algn="l"/>
            <a:r>
              <a:rPr sz="1230" b="0" i="0">
                <a:solidFill>
                  <a:srgbClr val="475569"/>
                </a:solidFill>
                <a:latin typeface="Segoe UI"/>
              </a:rPr>
              <a:t>Ví dụ thêm giao dịch, nạp goal hoặc tạo chi tiêu chung.</a:t>
            </a:r>
          </a:p>
        </p:txBody>
      </p:sp>
      <p:sp>
        <p:nvSpPr>
          <p:cNvPr id="12" name="Rounded Rectangle 11"/>
          <p:cNvSpPr/>
          <p:nvPr/>
        </p:nvSpPr>
        <p:spPr>
          <a:xfrm>
            <a:off x="841248" y="2688336"/>
            <a:ext cx="10351008" cy="8595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05840" y="2843784"/>
            <a:ext cx="530352" cy="512064"/>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980944"/>
            <a:ext cx="530352" cy="128016"/>
          </a:xfrm>
          <a:prstGeom prst="rect">
            <a:avLst/>
          </a:prstGeom>
          <a:noFill/>
        </p:spPr>
        <p:txBody>
          <a:bodyPr wrap="square" lIns="0" tIns="0" rIns="0" bIns="0" anchor="t">
            <a:spAutoFit/>
          </a:bodyPr>
          <a:lstStyle/>
          <a:p>
            <a:pPr algn="ctr"/>
            <a:r>
              <a:rPr sz="1300" b="1" i="0">
                <a:solidFill>
                  <a:srgbClr val="0F172A"/>
                </a:solidFill>
                <a:latin typeface="Segoe UI"/>
              </a:rPr>
              <a:t>2</a:t>
            </a:r>
          </a:p>
        </p:txBody>
      </p:sp>
      <p:sp>
        <p:nvSpPr>
          <p:cNvPr id="15" name="TextBox 14"/>
          <p:cNvSpPr txBox="1"/>
          <p:nvPr/>
        </p:nvSpPr>
        <p:spPr>
          <a:xfrm>
            <a:off x="1810512" y="2852928"/>
            <a:ext cx="3200400" cy="164592"/>
          </a:xfrm>
          <a:prstGeom prst="rect">
            <a:avLst/>
          </a:prstGeom>
          <a:noFill/>
        </p:spPr>
        <p:txBody>
          <a:bodyPr wrap="square" lIns="0" tIns="0" rIns="0" bIns="0" anchor="t">
            <a:spAutoFit/>
          </a:bodyPr>
          <a:lstStyle/>
          <a:p>
            <a:pPr algn="l"/>
            <a:r>
              <a:rPr sz="1650" b="1" i="0">
                <a:solidFill>
                  <a:srgbClr val="0F172A"/>
                </a:solidFill>
                <a:latin typeface="Segoe UI"/>
              </a:rPr>
              <a:t>Frontend gọi API</a:t>
            </a:r>
          </a:p>
        </p:txBody>
      </p:sp>
      <p:sp>
        <p:nvSpPr>
          <p:cNvPr id="16" name="TextBox 15"/>
          <p:cNvSpPr txBox="1"/>
          <p:nvPr/>
        </p:nvSpPr>
        <p:spPr>
          <a:xfrm>
            <a:off x="1810512" y="3127248"/>
            <a:ext cx="7955279" cy="146304"/>
          </a:xfrm>
          <a:prstGeom prst="rect">
            <a:avLst/>
          </a:prstGeom>
          <a:noFill/>
        </p:spPr>
        <p:txBody>
          <a:bodyPr wrap="square" lIns="0" tIns="0" rIns="0" bIns="0" anchor="t">
            <a:spAutoFit/>
          </a:bodyPr>
          <a:lstStyle/>
          <a:p>
            <a:pPr algn="l"/>
            <a:r>
              <a:rPr sz="1230" b="0" i="0">
                <a:solidFill>
                  <a:srgbClr val="475569"/>
                </a:solidFill>
                <a:latin typeface="Segoe UI"/>
              </a:rPr>
              <a:t>Request được gửi đến backend qua endpoint phù hợp.</a:t>
            </a:r>
          </a:p>
        </p:txBody>
      </p:sp>
      <p:sp>
        <p:nvSpPr>
          <p:cNvPr id="17" name="Rounded Rectangle 16"/>
          <p:cNvSpPr/>
          <p:nvPr/>
        </p:nvSpPr>
        <p:spPr>
          <a:xfrm>
            <a:off x="841248" y="3675888"/>
            <a:ext cx="10351008" cy="8595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05840" y="3831336"/>
            <a:ext cx="530352" cy="512064"/>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3968496"/>
            <a:ext cx="530352" cy="128016"/>
          </a:xfrm>
          <a:prstGeom prst="rect">
            <a:avLst/>
          </a:prstGeom>
          <a:noFill/>
        </p:spPr>
        <p:txBody>
          <a:bodyPr wrap="square" lIns="0" tIns="0" rIns="0" bIns="0" anchor="t">
            <a:spAutoFit/>
          </a:bodyPr>
          <a:lstStyle/>
          <a:p>
            <a:pPr algn="ctr"/>
            <a:r>
              <a:rPr sz="1300" b="1" i="0">
                <a:solidFill>
                  <a:srgbClr val="0F172A"/>
                </a:solidFill>
                <a:latin typeface="Segoe UI"/>
              </a:rPr>
              <a:t>3</a:t>
            </a:r>
          </a:p>
        </p:txBody>
      </p:sp>
      <p:sp>
        <p:nvSpPr>
          <p:cNvPr id="20" name="TextBox 19"/>
          <p:cNvSpPr txBox="1"/>
          <p:nvPr/>
        </p:nvSpPr>
        <p:spPr>
          <a:xfrm>
            <a:off x="1810512" y="3840480"/>
            <a:ext cx="3200400" cy="164592"/>
          </a:xfrm>
          <a:prstGeom prst="rect">
            <a:avLst/>
          </a:prstGeom>
          <a:noFill/>
        </p:spPr>
        <p:txBody>
          <a:bodyPr wrap="square" lIns="0" tIns="0" rIns="0" bIns="0" anchor="t">
            <a:spAutoFit/>
          </a:bodyPr>
          <a:lstStyle/>
          <a:p>
            <a:pPr algn="l"/>
            <a:r>
              <a:rPr sz="1650" b="1" i="0">
                <a:solidFill>
                  <a:srgbClr val="0F172A"/>
                </a:solidFill>
                <a:latin typeface="Segoe UI"/>
              </a:rPr>
              <a:t>Backend kiểm tra</a:t>
            </a:r>
          </a:p>
        </p:txBody>
      </p:sp>
      <p:sp>
        <p:nvSpPr>
          <p:cNvPr id="21" name="TextBox 20"/>
          <p:cNvSpPr txBox="1"/>
          <p:nvPr/>
        </p:nvSpPr>
        <p:spPr>
          <a:xfrm>
            <a:off x="1810512" y="4114800"/>
            <a:ext cx="7955279" cy="146304"/>
          </a:xfrm>
          <a:prstGeom prst="rect">
            <a:avLst/>
          </a:prstGeom>
          <a:noFill/>
        </p:spPr>
        <p:txBody>
          <a:bodyPr wrap="square" lIns="0" tIns="0" rIns="0" bIns="0" anchor="t">
            <a:spAutoFit/>
          </a:bodyPr>
          <a:lstStyle/>
          <a:p>
            <a:pPr algn="l"/>
            <a:r>
              <a:rPr sz="1230" b="0" i="0">
                <a:solidFill>
                  <a:srgbClr val="475569"/>
                </a:solidFill>
                <a:latin typeface="Segoe UI"/>
              </a:rPr>
              <a:t>Auth, role và validation được chạy trước khi ghi dữ liệu.</a:t>
            </a:r>
          </a:p>
        </p:txBody>
      </p:sp>
      <p:sp>
        <p:nvSpPr>
          <p:cNvPr id="22" name="Rounded Rectangle 21"/>
          <p:cNvSpPr/>
          <p:nvPr/>
        </p:nvSpPr>
        <p:spPr>
          <a:xfrm>
            <a:off x="841248" y="4663440"/>
            <a:ext cx="10351008" cy="8595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05840" y="4818888"/>
            <a:ext cx="530352" cy="512064"/>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4956048"/>
            <a:ext cx="530352" cy="128016"/>
          </a:xfrm>
          <a:prstGeom prst="rect">
            <a:avLst/>
          </a:prstGeom>
          <a:noFill/>
        </p:spPr>
        <p:txBody>
          <a:bodyPr wrap="square" lIns="0" tIns="0" rIns="0" bIns="0" anchor="t">
            <a:spAutoFit/>
          </a:bodyPr>
          <a:lstStyle/>
          <a:p>
            <a:pPr algn="ctr"/>
            <a:r>
              <a:rPr sz="1300" b="1" i="0">
                <a:solidFill>
                  <a:srgbClr val="0F172A"/>
                </a:solidFill>
                <a:latin typeface="Segoe UI"/>
              </a:rPr>
              <a:t>4</a:t>
            </a:r>
          </a:p>
        </p:txBody>
      </p:sp>
      <p:sp>
        <p:nvSpPr>
          <p:cNvPr id="25" name="TextBox 24"/>
          <p:cNvSpPr txBox="1"/>
          <p:nvPr/>
        </p:nvSpPr>
        <p:spPr>
          <a:xfrm>
            <a:off x="1810512" y="4828032"/>
            <a:ext cx="3200400" cy="164592"/>
          </a:xfrm>
          <a:prstGeom prst="rect">
            <a:avLst/>
          </a:prstGeom>
          <a:noFill/>
        </p:spPr>
        <p:txBody>
          <a:bodyPr wrap="square" lIns="0" tIns="0" rIns="0" bIns="0" anchor="t">
            <a:spAutoFit/>
          </a:bodyPr>
          <a:lstStyle/>
          <a:p>
            <a:pPr algn="l"/>
            <a:r>
              <a:rPr sz="1650" b="1" i="0">
                <a:solidFill>
                  <a:srgbClr val="0F172A"/>
                </a:solidFill>
                <a:latin typeface="Segoe UI"/>
              </a:rPr>
              <a:t>Database cập nhật</a:t>
            </a:r>
          </a:p>
        </p:txBody>
      </p:sp>
      <p:sp>
        <p:nvSpPr>
          <p:cNvPr id="26" name="TextBox 25"/>
          <p:cNvSpPr txBox="1"/>
          <p:nvPr/>
        </p:nvSpPr>
        <p:spPr>
          <a:xfrm>
            <a:off x="1810512" y="5102352"/>
            <a:ext cx="7955279" cy="146304"/>
          </a:xfrm>
          <a:prstGeom prst="rect">
            <a:avLst/>
          </a:prstGeom>
          <a:noFill/>
        </p:spPr>
        <p:txBody>
          <a:bodyPr wrap="square" lIns="0" tIns="0" rIns="0" bIns="0" anchor="t">
            <a:spAutoFit/>
          </a:bodyPr>
          <a:lstStyle/>
          <a:p>
            <a:pPr algn="l"/>
            <a:r>
              <a:rPr sz="1230" b="0" i="0">
                <a:solidFill>
                  <a:srgbClr val="475569"/>
                </a:solidFill>
                <a:latin typeface="Segoe UI"/>
              </a:rPr>
              <a:t>PostgreSQL lưu dữ liệu; dashboard và danh sách được làm mới.</a:t>
            </a:r>
          </a:p>
        </p:txBody>
      </p:sp>
      <p:sp>
        <p:nvSpPr>
          <p:cNvPr id="27" name="Rounded Rectangle 26"/>
          <p:cNvSpPr/>
          <p:nvPr/>
        </p:nvSpPr>
        <p:spPr>
          <a:xfrm>
            <a:off x="841248" y="5797296"/>
            <a:ext cx="10351008" cy="329184"/>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51560" y="5879592"/>
            <a:ext cx="9875520" cy="128016"/>
          </a:xfrm>
          <a:prstGeom prst="rect">
            <a:avLst/>
          </a:prstGeom>
          <a:noFill/>
        </p:spPr>
        <p:txBody>
          <a:bodyPr wrap="square" lIns="0" tIns="0" rIns="0" bIns="0" anchor="t">
            <a:spAutoFit/>
          </a:bodyPr>
          <a:lstStyle/>
          <a:p>
            <a:pPr algn="l"/>
            <a:r>
              <a:rPr sz="1150" b="0" i="0">
                <a:solidFill>
                  <a:srgbClr val="FFFFFF"/>
                </a:solidFill>
                <a:latin typeface="Segoe UI"/>
              </a:rPr>
              <a:t>Nếu hội đồng yêu cầu demo tích hợp, nên dùng đúng flow này để trình bày: Web → API → DB → UI phản hồi.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Chức năng nổi bật và giá trị nghiệp vụ</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Điểm mạnh của đề tài là không dừng ở CRUD mà có thêm nhiều lớp nghiệp vụ phục vụ tình huống sử dụng thật.</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16</a:t>
            </a:r>
          </a:p>
        </p:txBody>
      </p:sp>
      <p:sp>
        <p:nvSpPr>
          <p:cNvPr id="7" name="Rounded Rectangle 6"/>
          <p:cNvSpPr/>
          <p:nvPr/>
        </p:nvSpPr>
        <p:spPr>
          <a:xfrm>
            <a:off x="822960" y="1682496"/>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682496"/>
            <a:ext cx="256032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847088"/>
            <a:ext cx="2194560" cy="164592"/>
          </a:xfrm>
          <a:prstGeom prst="rect">
            <a:avLst/>
          </a:prstGeom>
          <a:noFill/>
        </p:spPr>
        <p:txBody>
          <a:bodyPr wrap="square" lIns="0" tIns="0" rIns="0" bIns="0" anchor="t">
            <a:spAutoFit/>
          </a:bodyPr>
          <a:lstStyle/>
          <a:p>
            <a:pPr algn="l"/>
            <a:r>
              <a:rPr sz="1700" b="1" i="0">
                <a:solidFill>
                  <a:srgbClr val="0F172A"/>
                </a:solidFill>
                <a:latin typeface="Segoe UI"/>
              </a:rPr>
              <a:t>Giao dịch &amp; ví</a:t>
            </a:r>
          </a:p>
        </p:txBody>
      </p:sp>
      <p:sp>
        <p:nvSpPr>
          <p:cNvPr id="10" name="TextBox 9"/>
          <p:cNvSpPr txBox="1"/>
          <p:nvPr/>
        </p:nvSpPr>
        <p:spPr>
          <a:xfrm>
            <a:off x="1005840" y="2304288"/>
            <a:ext cx="2194560" cy="347472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CRUD giao dịch thu chi.</a:t>
            </a:r>
          </a:p>
          <a:p>
            <a:pPr>
              <a:spcAft>
                <a:spcPts val="500"/>
              </a:spcAft>
            </a:pPr>
            <a:r>
              <a:rPr sz="1420" b="1">
                <a:solidFill>
                  <a:srgbClr val="0EA5E9"/>
                </a:solidFill>
              </a:rPr>
              <a:t>• </a:t>
            </a:r>
            <a:r>
              <a:rPr sz="1420">
                <a:solidFill>
                  <a:srgbClr val="475569"/>
                </a:solidFill>
                <a:latin typeface="Segoe UI"/>
              </a:rPr>
              <a:t>Quản lý nhiều ví.</a:t>
            </a:r>
          </a:p>
          <a:p>
            <a:pPr>
              <a:spcAft>
                <a:spcPts val="500"/>
              </a:spcAft>
            </a:pPr>
            <a:r>
              <a:rPr sz="1420" b="1">
                <a:solidFill>
                  <a:srgbClr val="0EA5E9"/>
                </a:solidFill>
              </a:rPr>
              <a:t>• </a:t>
            </a:r>
            <a:r>
              <a:rPr sz="1420">
                <a:solidFill>
                  <a:srgbClr val="475569"/>
                </a:solidFill>
                <a:latin typeface="Segoe UI"/>
              </a:rPr>
              <a:t>Filter, search, phân trang.</a:t>
            </a:r>
          </a:p>
        </p:txBody>
      </p:sp>
      <p:sp>
        <p:nvSpPr>
          <p:cNvPr id="11" name="Rounded Rectangle 10"/>
          <p:cNvSpPr/>
          <p:nvPr/>
        </p:nvSpPr>
        <p:spPr>
          <a:xfrm>
            <a:off x="3611880" y="1682496"/>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11880" y="1682496"/>
            <a:ext cx="256032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94760" y="1847088"/>
            <a:ext cx="2194560" cy="164592"/>
          </a:xfrm>
          <a:prstGeom prst="rect">
            <a:avLst/>
          </a:prstGeom>
          <a:noFill/>
        </p:spPr>
        <p:txBody>
          <a:bodyPr wrap="square" lIns="0" tIns="0" rIns="0" bIns="0" anchor="t">
            <a:spAutoFit/>
          </a:bodyPr>
          <a:lstStyle/>
          <a:p>
            <a:pPr algn="l"/>
            <a:r>
              <a:rPr sz="1700" b="1" i="0">
                <a:solidFill>
                  <a:srgbClr val="0F172A"/>
                </a:solidFill>
                <a:latin typeface="Segoe UI"/>
              </a:rPr>
              <a:t>Ngân sách &amp; goal</a:t>
            </a:r>
          </a:p>
        </p:txBody>
      </p:sp>
      <p:sp>
        <p:nvSpPr>
          <p:cNvPr id="14" name="TextBox 13"/>
          <p:cNvSpPr txBox="1"/>
          <p:nvPr/>
        </p:nvSpPr>
        <p:spPr>
          <a:xfrm>
            <a:off x="3794760" y="2304288"/>
            <a:ext cx="2194560" cy="347472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Theo dõi budget theo danh mục.</a:t>
            </a:r>
          </a:p>
          <a:p>
            <a:pPr>
              <a:spcAft>
                <a:spcPts val="500"/>
              </a:spcAft>
            </a:pPr>
            <a:r>
              <a:rPr sz="1420" b="1">
                <a:solidFill>
                  <a:srgbClr val="14B8A6"/>
                </a:solidFill>
              </a:rPr>
              <a:t>• </a:t>
            </a:r>
            <a:r>
              <a:rPr sz="1420">
                <a:solidFill>
                  <a:srgbClr val="475569"/>
                </a:solidFill>
                <a:latin typeface="Segoe UI"/>
              </a:rPr>
              <a:t>Tạo mục tiêu tiết kiệm.</a:t>
            </a:r>
          </a:p>
          <a:p>
            <a:pPr>
              <a:spcAft>
                <a:spcPts val="500"/>
              </a:spcAft>
            </a:pPr>
            <a:r>
              <a:rPr sz="1420" b="1">
                <a:solidFill>
                  <a:srgbClr val="14B8A6"/>
                </a:solidFill>
              </a:rPr>
              <a:t>• </a:t>
            </a:r>
            <a:r>
              <a:rPr sz="1420">
                <a:solidFill>
                  <a:srgbClr val="475569"/>
                </a:solidFill>
                <a:latin typeface="Segoe UI"/>
              </a:rPr>
              <a:t>Nạp tiền và xem tiến độ.</a:t>
            </a:r>
          </a:p>
        </p:txBody>
      </p:sp>
      <p:sp>
        <p:nvSpPr>
          <p:cNvPr id="15" name="Rounded Rectangle 14"/>
          <p:cNvSpPr/>
          <p:nvPr/>
        </p:nvSpPr>
        <p:spPr>
          <a:xfrm>
            <a:off x="6400800" y="1682496"/>
            <a:ext cx="25603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0" y="1682496"/>
            <a:ext cx="256032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1847088"/>
            <a:ext cx="2194560" cy="164592"/>
          </a:xfrm>
          <a:prstGeom prst="rect">
            <a:avLst/>
          </a:prstGeom>
          <a:noFill/>
        </p:spPr>
        <p:txBody>
          <a:bodyPr wrap="square" lIns="0" tIns="0" rIns="0" bIns="0" anchor="t">
            <a:spAutoFit/>
          </a:bodyPr>
          <a:lstStyle/>
          <a:p>
            <a:pPr algn="l"/>
            <a:r>
              <a:rPr sz="1700" b="1" i="0">
                <a:solidFill>
                  <a:srgbClr val="0F172A"/>
                </a:solidFill>
                <a:latin typeface="Segoe UI"/>
              </a:rPr>
              <a:t>Gia đình</a:t>
            </a:r>
          </a:p>
        </p:txBody>
      </p:sp>
      <p:sp>
        <p:nvSpPr>
          <p:cNvPr id="18" name="TextBox 17"/>
          <p:cNvSpPr txBox="1"/>
          <p:nvPr/>
        </p:nvSpPr>
        <p:spPr>
          <a:xfrm>
            <a:off x="6583680" y="2304288"/>
            <a:ext cx="2194560" cy="347472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Nhóm thành viên.</a:t>
            </a:r>
          </a:p>
          <a:p>
            <a:pPr>
              <a:spcAft>
                <a:spcPts val="500"/>
              </a:spcAft>
            </a:pPr>
            <a:r>
              <a:rPr sz="1420" b="1">
                <a:solidFill>
                  <a:srgbClr val="F59E0B"/>
                </a:solidFill>
              </a:rPr>
              <a:t>• </a:t>
            </a:r>
            <a:r>
              <a:rPr sz="1420">
                <a:solidFill>
                  <a:srgbClr val="475569"/>
                </a:solidFill>
                <a:latin typeface="Segoe UI"/>
              </a:rPr>
              <a:t>Chi tiêu dùng chung.</a:t>
            </a:r>
          </a:p>
          <a:p>
            <a:pPr>
              <a:spcAft>
                <a:spcPts val="500"/>
              </a:spcAft>
            </a:pPr>
            <a:r>
              <a:rPr sz="1420" b="1">
                <a:solidFill>
                  <a:srgbClr val="F59E0B"/>
                </a:solidFill>
              </a:rPr>
              <a:t>• </a:t>
            </a:r>
            <a:r>
              <a:rPr sz="1420">
                <a:solidFill>
                  <a:srgbClr val="475569"/>
                </a:solidFill>
                <a:latin typeface="Segoe UI"/>
              </a:rPr>
              <a:t>Công nợ nội bộ và minh bạch quỹ.</a:t>
            </a:r>
          </a:p>
        </p:txBody>
      </p:sp>
      <p:sp>
        <p:nvSpPr>
          <p:cNvPr id="19" name="Rounded Rectangle 18"/>
          <p:cNvSpPr/>
          <p:nvPr/>
        </p:nvSpPr>
        <p:spPr>
          <a:xfrm>
            <a:off x="9189720" y="1682496"/>
            <a:ext cx="20116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189720" y="1682496"/>
            <a:ext cx="2011680" cy="45720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72600" y="1847088"/>
            <a:ext cx="1645920" cy="164592"/>
          </a:xfrm>
          <a:prstGeom prst="rect">
            <a:avLst/>
          </a:prstGeom>
          <a:noFill/>
        </p:spPr>
        <p:txBody>
          <a:bodyPr wrap="square" lIns="0" tIns="0" rIns="0" bIns="0" anchor="t">
            <a:spAutoFit/>
          </a:bodyPr>
          <a:lstStyle/>
          <a:p>
            <a:pPr algn="l"/>
            <a:r>
              <a:rPr sz="1700" b="1" i="0">
                <a:solidFill>
                  <a:srgbClr val="0F172A"/>
                </a:solidFill>
                <a:latin typeface="Segoe UI"/>
              </a:rPr>
              <a:t>Nâng cao</a:t>
            </a:r>
          </a:p>
        </p:txBody>
      </p:sp>
      <p:sp>
        <p:nvSpPr>
          <p:cNvPr id="22" name="TextBox 21"/>
          <p:cNvSpPr txBox="1"/>
          <p:nvPr/>
        </p:nvSpPr>
        <p:spPr>
          <a:xfrm>
            <a:off x="9372600" y="2304288"/>
            <a:ext cx="1645920" cy="3474720"/>
          </a:xfrm>
          <a:prstGeom prst="rect">
            <a:avLst/>
          </a:prstGeom>
          <a:noFill/>
        </p:spPr>
        <p:txBody>
          <a:bodyPr wrap="square">
            <a:spAutoFit/>
          </a:bodyPr>
          <a:lstStyle/>
          <a:p>
            <a:pPr>
              <a:spcAft>
                <a:spcPts val="500"/>
              </a:spcAft>
            </a:pPr>
            <a:r>
              <a:rPr sz="1420" b="1">
                <a:solidFill>
                  <a:srgbClr val="EF4444"/>
                </a:solidFill>
              </a:rPr>
              <a:t>• </a:t>
            </a:r>
            <a:r>
              <a:rPr sz="1420">
                <a:solidFill>
                  <a:srgbClr val="475569"/>
                </a:solidFill>
                <a:latin typeface="Segoe UI"/>
              </a:rPr>
              <a:t>Recurring transaction.</a:t>
            </a:r>
          </a:p>
          <a:p>
            <a:pPr>
              <a:spcAft>
                <a:spcPts val="500"/>
              </a:spcAft>
            </a:pPr>
            <a:r>
              <a:rPr sz="1420" b="1">
                <a:solidFill>
                  <a:srgbClr val="EF4444"/>
                </a:solidFill>
              </a:rPr>
              <a:t>• </a:t>
            </a:r>
            <a:r>
              <a:rPr sz="1420">
                <a:solidFill>
                  <a:srgbClr val="475569"/>
                </a:solidFill>
                <a:latin typeface="Segoe UI"/>
              </a:rPr>
              <a:t>Realtime notification.</a:t>
            </a:r>
          </a:p>
          <a:p>
            <a:pPr>
              <a:spcAft>
                <a:spcPts val="500"/>
              </a:spcAft>
            </a:pPr>
            <a:r>
              <a:rPr sz="1420" b="1">
                <a:solidFill>
                  <a:srgbClr val="EF4444"/>
                </a:solidFill>
              </a:rPr>
              <a:t>• </a:t>
            </a:r>
            <a:r>
              <a:rPr sz="1420">
                <a:solidFill>
                  <a:srgbClr val="475569"/>
                </a:solidFill>
                <a:latin typeface="Segoe UI"/>
              </a:rPr>
              <a:t>Debt simplification.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Dashboard, báo cáo và phân tích</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Đây là phần tạo chiều sâu cho đồ án vì biến dữ liệu giao dịch thành thông tin có ích cho người dùng.</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17</a:t>
            </a:r>
          </a:p>
        </p:txBody>
      </p:sp>
      <p:sp>
        <p:nvSpPr>
          <p:cNvPr id="7" name="Rounded Rectangle 6"/>
          <p:cNvSpPr/>
          <p:nvPr/>
        </p:nvSpPr>
        <p:spPr>
          <a:xfrm>
            <a:off x="841248" y="1664208"/>
            <a:ext cx="48920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ashboard.png"/>
          <p:cNvPicPr>
            <a:picLocks noChangeAspect="1"/>
          </p:cNvPicPr>
          <p:nvPr/>
        </p:nvPicPr>
        <p:blipFill>
          <a:blip r:embed="rId2"/>
          <a:stretch>
            <a:fillRect/>
          </a:stretch>
        </p:blipFill>
        <p:spPr>
          <a:xfrm>
            <a:off x="950976" y="2069388"/>
            <a:ext cx="4672584" cy="3322726"/>
          </a:xfrm>
          <a:prstGeom prst="rect">
            <a:avLst/>
          </a:prstGeom>
        </p:spPr>
      </p:pic>
      <p:sp>
        <p:nvSpPr>
          <p:cNvPr id="9" name="TextBox 8"/>
          <p:cNvSpPr txBox="1"/>
          <p:nvPr/>
        </p:nvSpPr>
        <p:spPr>
          <a:xfrm>
            <a:off x="969264" y="5788152"/>
            <a:ext cx="4636008" cy="128016"/>
          </a:xfrm>
          <a:prstGeom prst="rect">
            <a:avLst/>
          </a:prstGeom>
          <a:noFill/>
        </p:spPr>
        <p:txBody>
          <a:bodyPr wrap="square" lIns="0" tIns="0" rIns="0" bIns="0" anchor="t">
            <a:spAutoFit/>
          </a:bodyPr>
          <a:lstStyle/>
          <a:p>
            <a:pPr algn="ctr"/>
            <a:r>
              <a:rPr sz="1050" b="1" i="0">
                <a:solidFill>
                  <a:srgbClr val="64748B"/>
                </a:solidFill>
                <a:latin typeface="Segoe UI"/>
              </a:rPr>
              <a:t>Dashboard tổng quan</a:t>
            </a:r>
          </a:p>
        </p:txBody>
      </p:sp>
      <p:sp>
        <p:nvSpPr>
          <p:cNvPr id="10" name="Rounded Rectangle 9"/>
          <p:cNvSpPr/>
          <p:nvPr/>
        </p:nvSpPr>
        <p:spPr>
          <a:xfrm>
            <a:off x="5989320" y="1664208"/>
            <a:ext cx="242316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989320" y="1664208"/>
            <a:ext cx="242316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1828800"/>
            <a:ext cx="2057400" cy="164592"/>
          </a:xfrm>
          <a:prstGeom prst="rect">
            <a:avLst/>
          </a:prstGeom>
          <a:noFill/>
        </p:spPr>
        <p:txBody>
          <a:bodyPr wrap="square" lIns="0" tIns="0" rIns="0" bIns="0" anchor="t">
            <a:spAutoFit/>
          </a:bodyPr>
          <a:lstStyle/>
          <a:p>
            <a:pPr algn="l"/>
            <a:r>
              <a:rPr sz="1700" b="1" i="0">
                <a:solidFill>
                  <a:srgbClr val="0F172A"/>
                </a:solidFill>
                <a:latin typeface="Segoe UI"/>
              </a:rPr>
              <a:t>Chỉ số quan sát</a:t>
            </a:r>
          </a:p>
        </p:txBody>
      </p:sp>
      <p:sp>
        <p:nvSpPr>
          <p:cNvPr id="13" name="TextBox 12"/>
          <p:cNvSpPr txBox="1"/>
          <p:nvPr/>
        </p:nvSpPr>
        <p:spPr>
          <a:xfrm>
            <a:off x="6035040" y="2269022"/>
            <a:ext cx="2423160" cy="1094659"/>
          </a:xfrm>
          <a:prstGeom prst="rect">
            <a:avLst/>
          </a:prstGeom>
          <a:noFill/>
        </p:spPr>
        <p:txBody>
          <a:bodyPr wrap="square">
            <a:spAutoFit/>
          </a:bodyPr>
          <a:lstStyle/>
          <a:p>
            <a:pPr>
              <a:spcAft>
                <a:spcPts val="500"/>
              </a:spcAft>
            </a:pPr>
            <a:r>
              <a:rPr sz="1420" b="1" dirty="0">
                <a:solidFill>
                  <a:srgbClr val="0EA5E9"/>
                </a:solidFill>
              </a:rPr>
              <a:t>• </a:t>
            </a:r>
            <a:r>
              <a:rPr sz="1420" dirty="0" err="1">
                <a:solidFill>
                  <a:srgbClr val="475569"/>
                </a:solidFill>
                <a:latin typeface="Segoe UI"/>
              </a:rPr>
              <a:t>Tổng</a:t>
            </a:r>
            <a:r>
              <a:rPr sz="1420" dirty="0">
                <a:solidFill>
                  <a:srgbClr val="475569"/>
                </a:solidFill>
                <a:latin typeface="Segoe UI"/>
              </a:rPr>
              <a:t> </a:t>
            </a:r>
            <a:r>
              <a:rPr sz="1420" dirty="0" err="1">
                <a:solidFill>
                  <a:srgbClr val="475569"/>
                </a:solidFill>
                <a:latin typeface="Segoe UI"/>
              </a:rPr>
              <a:t>thu</a:t>
            </a:r>
            <a:r>
              <a:rPr sz="1420" dirty="0">
                <a:solidFill>
                  <a:srgbClr val="475569"/>
                </a:solidFill>
                <a:latin typeface="Segoe UI"/>
              </a:rPr>
              <a:t>, </a:t>
            </a:r>
            <a:r>
              <a:rPr sz="1420" dirty="0" err="1">
                <a:solidFill>
                  <a:srgbClr val="475569"/>
                </a:solidFill>
                <a:latin typeface="Segoe UI"/>
              </a:rPr>
              <a:t>tổng</a:t>
            </a:r>
            <a:r>
              <a:rPr sz="1420" dirty="0">
                <a:solidFill>
                  <a:srgbClr val="475569"/>
                </a:solidFill>
                <a:latin typeface="Segoe UI"/>
              </a:rPr>
              <a:t> chi, </a:t>
            </a:r>
            <a:r>
              <a:rPr sz="1420" dirty="0" err="1">
                <a:solidFill>
                  <a:srgbClr val="475569"/>
                </a:solidFill>
                <a:latin typeface="Segoe UI"/>
              </a:rPr>
              <a:t>số</a:t>
            </a:r>
            <a:r>
              <a:rPr sz="1420" dirty="0">
                <a:solidFill>
                  <a:srgbClr val="475569"/>
                </a:solidFill>
                <a:latin typeface="Segoe UI"/>
              </a:rPr>
              <a:t> </a:t>
            </a:r>
            <a:r>
              <a:rPr sz="1420" dirty="0" err="1">
                <a:solidFill>
                  <a:srgbClr val="475569"/>
                </a:solidFill>
                <a:latin typeface="Segoe UI"/>
              </a:rPr>
              <a:t>dư</a:t>
            </a:r>
            <a:r>
              <a:rPr sz="1420" dirty="0">
                <a:solidFill>
                  <a:srgbClr val="475569"/>
                </a:solidFill>
                <a:latin typeface="Segoe UI"/>
              </a:rPr>
              <a:t>.</a:t>
            </a:r>
          </a:p>
          <a:p>
            <a:pPr>
              <a:spcAft>
                <a:spcPts val="500"/>
              </a:spcAft>
            </a:pPr>
            <a:r>
              <a:rPr sz="1420" b="1" dirty="0">
                <a:solidFill>
                  <a:srgbClr val="0EA5E9"/>
                </a:solidFill>
              </a:rPr>
              <a:t>• </a:t>
            </a:r>
            <a:r>
              <a:rPr sz="1420" dirty="0">
                <a:solidFill>
                  <a:srgbClr val="475569"/>
                </a:solidFill>
                <a:latin typeface="Segoe UI"/>
              </a:rPr>
              <a:t>Theo </a:t>
            </a:r>
            <a:r>
              <a:rPr sz="1420" dirty="0" err="1">
                <a:solidFill>
                  <a:srgbClr val="475569"/>
                </a:solidFill>
                <a:latin typeface="Segoe UI"/>
              </a:rPr>
              <a:t>dõi</a:t>
            </a:r>
            <a:r>
              <a:rPr sz="1420" dirty="0">
                <a:solidFill>
                  <a:srgbClr val="475569"/>
                </a:solidFill>
                <a:latin typeface="Segoe UI"/>
              </a:rPr>
              <a:t> </a:t>
            </a:r>
            <a:r>
              <a:rPr sz="1420" dirty="0" err="1">
                <a:solidFill>
                  <a:srgbClr val="475569"/>
                </a:solidFill>
                <a:latin typeface="Segoe UI"/>
              </a:rPr>
              <a:t>theo</a:t>
            </a:r>
            <a:r>
              <a:rPr sz="1420" dirty="0">
                <a:solidFill>
                  <a:srgbClr val="475569"/>
                </a:solidFill>
                <a:latin typeface="Segoe UI"/>
              </a:rPr>
              <a:t> </a:t>
            </a:r>
            <a:r>
              <a:rPr sz="1420" dirty="0" err="1">
                <a:solidFill>
                  <a:srgbClr val="475569"/>
                </a:solidFill>
                <a:latin typeface="Segoe UI"/>
              </a:rPr>
              <a:t>thời</a:t>
            </a:r>
            <a:r>
              <a:rPr sz="1420" dirty="0">
                <a:solidFill>
                  <a:srgbClr val="475569"/>
                </a:solidFill>
                <a:latin typeface="Segoe UI"/>
              </a:rPr>
              <a:t> </a:t>
            </a:r>
            <a:r>
              <a:rPr sz="1420" dirty="0" err="1">
                <a:solidFill>
                  <a:srgbClr val="475569"/>
                </a:solidFill>
                <a:latin typeface="Segoe UI"/>
              </a:rPr>
              <a:t>gian</a:t>
            </a:r>
            <a:r>
              <a:rPr sz="1420" dirty="0">
                <a:solidFill>
                  <a:srgbClr val="475569"/>
                </a:solidFill>
                <a:latin typeface="Segoe UI"/>
              </a:rPr>
              <a:t>.</a:t>
            </a:r>
          </a:p>
          <a:p>
            <a:pPr>
              <a:spcAft>
                <a:spcPts val="500"/>
              </a:spcAft>
            </a:pPr>
            <a:r>
              <a:rPr sz="1420" b="1" dirty="0">
                <a:solidFill>
                  <a:srgbClr val="0EA5E9"/>
                </a:solidFill>
              </a:rPr>
              <a:t>• </a:t>
            </a:r>
            <a:r>
              <a:rPr sz="1420" dirty="0" err="1">
                <a:solidFill>
                  <a:srgbClr val="475569"/>
                </a:solidFill>
                <a:latin typeface="Segoe UI"/>
              </a:rPr>
              <a:t>Trực</a:t>
            </a:r>
            <a:r>
              <a:rPr sz="1420" dirty="0">
                <a:solidFill>
                  <a:srgbClr val="475569"/>
                </a:solidFill>
                <a:latin typeface="Segoe UI"/>
              </a:rPr>
              <a:t> </a:t>
            </a:r>
            <a:r>
              <a:rPr sz="1420" dirty="0" err="1">
                <a:solidFill>
                  <a:srgbClr val="475569"/>
                </a:solidFill>
                <a:latin typeface="Segoe UI"/>
              </a:rPr>
              <a:t>quan</a:t>
            </a:r>
            <a:r>
              <a:rPr sz="1420" dirty="0">
                <a:solidFill>
                  <a:srgbClr val="475569"/>
                </a:solidFill>
                <a:latin typeface="Segoe UI"/>
              </a:rPr>
              <a:t> </a:t>
            </a:r>
            <a:r>
              <a:rPr sz="1420" dirty="0" err="1">
                <a:solidFill>
                  <a:srgbClr val="475569"/>
                </a:solidFill>
                <a:latin typeface="Segoe UI"/>
              </a:rPr>
              <a:t>bằng</a:t>
            </a:r>
            <a:r>
              <a:rPr sz="1420" dirty="0">
                <a:solidFill>
                  <a:srgbClr val="475569"/>
                </a:solidFill>
                <a:latin typeface="Segoe UI"/>
              </a:rPr>
              <a:t> chart/card.</a:t>
            </a:r>
          </a:p>
        </p:txBody>
      </p:sp>
      <p:sp>
        <p:nvSpPr>
          <p:cNvPr id="14" name="Rounded Rectangle 13"/>
          <p:cNvSpPr/>
          <p:nvPr/>
        </p:nvSpPr>
        <p:spPr>
          <a:xfrm>
            <a:off x="8641080" y="1664208"/>
            <a:ext cx="256032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641080" y="1664208"/>
            <a:ext cx="2560320"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60" y="1828800"/>
            <a:ext cx="2194560" cy="164592"/>
          </a:xfrm>
          <a:prstGeom prst="rect">
            <a:avLst/>
          </a:prstGeom>
          <a:noFill/>
        </p:spPr>
        <p:txBody>
          <a:bodyPr wrap="square" lIns="0" tIns="0" rIns="0" bIns="0" anchor="t">
            <a:spAutoFit/>
          </a:bodyPr>
          <a:lstStyle/>
          <a:p>
            <a:pPr algn="l"/>
            <a:r>
              <a:rPr sz="1700" b="1" i="0">
                <a:solidFill>
                  <a:srgbClr val="0F172A"/>
                </a:solidFill>
                <a:latin typeface="Segoe UI"/>
              </a:rPr>
              <a:t>Báo cáo</a:t>
            </a:r>
          </a:p>
        </p:txBody>
      </p:sp>
      <p:sp>
        <p:nvSpPr>
          <p:cNvPr id="17" name="TextBox 16"/>
          <p:cNvSpPr txBox="1"/>
          <p:nvPr/>
        </p:nvSpPr>
        <p:spPr>
          <a:xfrm>
            <a:off x="8823960" y="2286000"/>
            <a:ext cx="2194560" cy="1143000"/>
          </a:xfrm>
          <a:prstGeom prst="rect">
            <a:avLst/>
          </a:prstGeom>
          <a:noFill/>
        </p:spPr>
        <p:txBody>
          <a:bodyPr wrap="square">
            <a:spAutoFit/>
          </a:bodyPr>
          <a:lstStyle/>
          <a:p>
            <a:pPr>
              <a:spcAft>
                <a:spcPts val="500"/>
              </a:spcAft>
            </a:pPr>
            <a:r>
              <a:rPr sz="1420" b="1" dirty="0">
                <a:solidFill>
                  <a:srgbClr val="F59E0B"/>
                </a:solidFill>
              </a:rPr>
              <a:t>• </a:t>
            </a:r>
            <a:r>
              <a:rPr sz="1420" dirty="0">
                <a:solidFill>
                  <a:srgbClr val="475569"/>
                </a:solidFill>
                <a:latin typeface="Segoe UI"/>
              </a:rPr>
              <a:t>Export CSV/Excel/PDF.</a:t>
            </a:r>
          </a:p>
          <a:p>
            <a:pPr>
              <a:spcAft>
                <a:spcPts val="500"/>
              </a:spcAft>
            </a:pPr>
            <a:r>
              <a:rPr sz="1420" b="1" dirty="0">
                <a:solidFill>
                  <a:srgbClr val="F59E0B"/>
                </a:solidFill>
              </a:rPr>
              <a:t>• </a:t>
            </a:r>
            <a:r>
              <a:rPr sz="1420" dirty="0" err="1">
                <a:solidFill>
                  <a:srgbClr val="475569"/>
                </a:solidFill>
                <a:latin typeface="Segoe UI"/>
              </a:rPr>
              <a:t>Phù</a:t>
            </a:r>
            <a:r>
              <a:rPr sz="1420" dirty="0">
                <a:solidFill>
                  <a:srgbClr val="475569"/>
                </a:solidFill>
                <a:latin typeface="Segoe UI"/>
              </a:rPr>
              <a:t> </a:t>
            </a:r>
            <a:r>
              <a:rPr sz="1420" dirty="0" err="1">
                <a:solidFill>
                  <a:srgbClr val="475569"/>
                </a:solidFill>
                <a:latin typeface="Segoe UI"/>
              </a:rPr>
              <a:t>hợp</a:t>
            </a:r>
            <a:r>
              <a:rPr sz="1420" dirty="0">
                <a:solidFill>
                  <a:srgbClr val="475569"/>
                </a:solidFill>
                <a:latin typeface="Segoe UI"/>
              </a:rPr>
              <a:t> </a:t>
            </a:r>
            <a:r>
              <a:rPr sz="1420" dirty="0" err="1">
                <a:solidFill>
                  <a:srgbClr val="475569"/>
                </a:solidFill>
                <a:latin typeface="Segoe UI"/>
              </a:rPr>
              <a:t>cho</a:t>
            </a:r>
            <a:r>
              <a:rPr sz="1420" dirty="0">
                <a:solidFill>
                  <a:srgbClr val="475569"/>
                </a:solidFill>
                <a:latin typeface="Segoe UI"/>
              </a:rPr>
              <a:t> </a:t>
            </a:r>
            <a:r>
              <a:rPr sz="1420" dirty="0" err="1">
                <a:solidFill>
                  <a:srgbClr val="475569"/>
                </a:solidFill>
                <a:latin typeface="Segoe UI"/>
              </a:rPr>
              <a:t>thao</a:t>
            </a:r>
            <a:r>
              <a:rPr sz="1420" dirty="0">
                <a:solidFill>
                  <a:srgbClr val="475569"/>
                </a:solidFill>
                <a:latin typeface="Segoe UI"/>
              </a:rPr>
              <a:t> </a:t>
            </a:r>
            <a:r>
              <a:rPr sz="1420" dirty="0" err="1">
                <a:solidFill>
                  <a:srgbClr val="475569"/>
                </a:solidFill>
                <a:latin typeface="Segoe UI"/>
              </a:rPr>
              <a:t>tác</a:t>
            </a:r>
            <a:r>
              <a:rPr sz="1420" dirty="0">
                <a:solidFill>
                  <a:srgbClr val="475569"/>
                </a:solidFill>
                <a:latin typeface="Segoe UI"/>
              </a:rPr>
              <a:t> </a:t>
            </a:r>
            <a:r>
              <a:rPr sz="1420" dirty="0" err="1">
                <a:solidFill>
                  <a:srgbClr val="475569"/>
                </a:solidFill>
                <a:latin typeface="Segoe UI"/>
              </a:rPr>
              <a:t>đối</a:t>
            </a:r>
            <a:r>
              <a:rPr sz="1420" dirty="0">
                <a:solidFill>
                  <a:srgbClr val="475569"/>
                </a:solidFill>
                <a:latin typeface="Segoe UI"/>
              </a:rPr>
              <a:t> </a:t>
            </a:r>
            <a:r>
              <a:rPr sz="1420" dirty="0" err="1">
                <a:solidFill>
                  <a:srgbClr val="475569"/>
                </a:solidFill>
                <a:latin typeface="Segoe UI"/>
              </a:rPr>
              <a:t>chiếu</a:t>
            </a:r>
            <a:r>
              <a:rPr sz="1420" dirty="0">
                <a:solidFill>
                  <a:srgbClr val="475569"/>
                </a:solidFill>
                <a:latin typeface="Segoe UI"/>
              </a:rPr>
              <a:t>.</a:t>
            </a:r>
          </a:p>
          <a:p>
            <a:pPr>
              <a:spcAft>
                <a:spcPts val="500"/>
              </a:spcAft>
            </a:pPr>
            <a:r>
              <a:rPr sz="1420" b="1" dirty="0">
                <a:solidFill>
                  <a:srgbClr val="F59E0B"/>
                </a:solidFill>
              </a:rPr>
              <a:t>• </a:t>
            </a:r>
            <a:r>
              <a:rPr sz="1420" dirty="0" err="1">
                <a:solidFill>
                  <a:srgbClr val="475569"/>
                </a:solidFill>
                <a:latin typeface="Segoe UI"/>
              </a:rPr>
              <a:t>Thuận</a:t>
            </a:r>
            <a:r>
              <a:rPr sz="1420" dirty="0">
                <a:solidFill>
                  <a:srgbClr val="475569"/>
                </a:solidFill>
                <a:latin typeface="Segoe UI"/>
              </a:rPr>
              <a:t> </a:t>
            </a:r>
            <a:r>
              <a:rPr sz="1420" dirty="0" err="1">
                <a:solidFill>
                  <a:srgbClr val="475569"/>
                </a:solidFill>
                <a:latin typeface="Segoe UI"/>
              </a:rPr>
              <a:t>tiện</a:t>
            </a:r>
            <a:r>
              <a:rPr sz="1420" dirty="0">
                <a:solidFill>
                  <a:srgbClr val="475569"/>
                </a:solidFill>
                <a:latin typeface="Segoe UI"/>
              </a:rPr>
              <a:t> </a:t>
            </a:r>
            <a:r>
              <a:rPr sz="1420" dirty="0" err="1">
                <a:solidFill>
                  <a:srgbClr val="475569"/>
                </a:solidFill>
                <a:latin typeface="Segoe UI"/>
              </a:rPr>
              <a:t>cho</a:t>
            </a:r>
            <a:r>
              <a:rPr sz="1420" dirty="0">
                <a:solidFill>
                  <a:srgbClr val="475569"/>
                </a:solidFill>
                <a:latin typeface="Segoe UI"/>
              </a:rPr>
              <a:t> </a:t>
            </a:r>
            <a:r>
              <a:rPr sz="1420" dirty="0" err="1">
                <a:solidFill>
                  <a:srgbClr val="475569"/>
                </a:solidFill>
                <a:latin typeface="Segoe UI"/>
              </a:rPr>
              <a:t>trình</a:t>
            </a:r>
            <a:r>
              <a:rPr sz="1420" dirty="0">
                <a:solidFill>
                  <a:srgbClr val="475569"/>
                </a:solidFill>
                <a:latin typeface="Segoe UI"/>
              </a:rPr>
              <a:t> </a:t>
            </a:r>
            <a:r>
              <a:rPr sz="1420" dirty="0" err="1">
                <a:solidFill>
                  <a:srgbClr val="475569"/>
                </a:solidFill>
                <a:latin typeface="Segoe UI"/>
              </a:rPr>
              <a:t>diễn</a:t>
            </a:r>
            <a:r>
              <a:rPr sz="1420" dirty="0">
                <a:solidFill>
                  <a:srgbClr val="475569"/>
                </a:solidFill>
                <a:latin typeface="Segoe UI"/>
              </a:rPr>
              <a:t>.</a:t>
            </a:r>
          </a:p>
        </p:txBody>
      </p:sp>
      <p:sp>
        <p:nvSpPr>
          <p:cNvPr id="18" name="Rounded Rectangle 17"/>
          <p:cNvSpPr/>
          <p:nvPr/>
        </p:nvSpPr>
        <p:spPr>
          <a:xfrm>
            <a:off x="5989320" y="4041648"/>
            <a:ext cx="521208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989320" y="4041648"/>
            <a:ext cx="521208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4206240"/>
            <a:ext cx="4846320" cy="164592"/>
          </a:xfrm>
          <a:prstGeom prst="rect">
            <a:avLst/>
          </a:prstGeom>
          <a:noFill/>
        </p:spPr>
        <p:txBody>
          <a:bodyPr wrap="square" lIns="0" tIns="0" rIns="0" bIns="0" anchor="t">
            <a:spAutoFit/>
          </a:bodyPr>
          <a:lstStyle/>
          <a:p>
            <a:pPr algn="l"/>
            <a:r>
              <a:rPr sz="1700" b="1" i="0">
                <a:solidFill>
                  <a:srgbClr val="0F172A"/>
                </a:solidFill>
                <a:latin typeface="Segoe UI"/>
              </a:rPr>
              <a:t>Ý nghĩa khi báo cáo</a:t>
            </a:r>
          </a:p>
        </p:txBody>
      </p:sp>
      <p:sp>
        <p:nvSpPr>
          <p:cNvPr id="21" name="TextBox 20"/>
          <p:cNvSpPr txBox="1"/>
          <p:nvPr/>
        </p:nvSpPr>
        <p:spPr>
          <a:xfrm>
            <a:off x="6172200" y="4663440"/>
            <a:ext cx="4846320" cy="114300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Dashboard là bằng chứng rõ nhất cho việc dữ liệu đã được tổng hợp đúng từ backend lên giao diện.</a:t>
            </a:r>
          </a:p>
          <a:p>
            <a:pPr>
              <a:spcAft>
                <a:spcPts val="500"/>
              </a:spcAft>
            </a:pPr>
            <a:r>
              <a:rPr sz="1420" b="1">
                <a:solidFill>
                  <a:srgbClr val="14B8A6"/>
                </a:solidFill>
              </a:rPr>
              <a:t>• </a:t>
            </a:r>
            <a:r>
              <a:rPr sz="1420">
                <a:solidFill>
                  <a:srgbClr val="475569"/>
                </a:solidFill>
                <a:latin typeface="Segoe UI"/>
              </a:rPr>
              <a:t>Nếu muốn gây ấn tượng trong phần demo, nên mở dashboard trước vì đây là màn hình nhìn ra được chiều sâu của toàn hệ thống.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Kiểm thử, Swagger và mức độ tin cậy</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Hệ thống đã có các lớp kiểm chứng để tránh cảm giác đây chỉ là một prototype giao diện.</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18</a:t>
            </a:r>
          </a:p>
        </p:txBody>
      </p:sp>
      <p:sp>
        <p:nvSpPr>
          <p:cNvPr id="7" name="Rounded Rectangle 6"/>
          <p:cNvSpPr/>
          <p:nvPr/>
        </p:nvSpPr>
        <p:spPr>
          <a:xfrm>
            <a:off x="868680" y="1664208"/>
            <a:ext cx="2514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96696" y="1810512"/>
            <a:ext cx="91440" cy="621792"/>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9576" y="1828800"/>
            <a:ext cx="2057400" cy="146304"/>
          </a:xfrm>
          <a:prstGeom prst="rect">
            <a:avLst/>
          </a:prstGeom>
          <a:noFill/>
        </p:spPr>
        <p:txBody>
          <a:bodyPr wrap="square" lIns="0" tIns="0" rIns="0" bIns="0" anchor="t">
            <a:spAutoFit/>
          </a:bodyPr>
          <a:lstStyle/>
          <a:p>
            <a:pPr algn="l"/>
            <a:r>
              <a:rPr sz="1150" b="1" i="0">
                <a:solidFill>
                  <a:srgbClr val="64748B"/>
                </a:solidFill>
                <a:latin typeface="Segoe UI"/>
              </a:rPr>
              <a:t>Backend test</a:t>
            </a:r>
          </a:p>
        </p:txBody>
      </p:sp>
      <p:sp>
        <p:nvSpPr>
          <p:cNvPr id="10" name="TextBox 9"/>
          <p:cNvSpPr txBox="1"/>
          <p:nvPr/>
        </p:nvSpPr>
        <p:spPr>
          <a:xfrm>
            <a:off x="1179576" y="2066544"/>
            <a:ext cx="2103120" cy="182880"/>
          </a:xfrm>
          <a:prstGeom prst="rect">
            <a:avLst/>
          </a:prstGeom>
          <a:noFill/>
        </p:spPr>
        <p:txBody>
          <a:bodyPr wrap="square" lIns="0" tIns="0" rIns="0" bIns="0" anchor="t">
            <a:spAutoFit/>
          </a:bodyPr>
          <a:lstStyle/>
          <a:p>
            <a:pPr algn="l"/>
            <a:r>
              <a:rPr sz="1800" b="1" i="0">
                <a:solidFill>
                  <a:srgbClr val="0F172A"/>
                </a:solidFill>
                <a:latin typeface="Segoe UI"/>
              </a:rPr>
              <a:t>20 suite / 112 test</a:t>
            </a:r>
          </a:p>
        </p:txBody>
      </p:sp>
      <p:sp>
        <p:nvSpPr>
          <p:cNvPr id="11" name="Rounded Rectangle 10"/>
          <p:cNvSpPr/>
          <p:nvPr/>
        </p:nvSpPr>
        <p:spPr>
          <a:xfrm>
            <a:off x="3611880" y="1664208"/>
            <a:ext cx="22402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39896" y="1810512"/>
            <a:ext cx="91440" cy="62179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22776" y="1828800"/>
            <a:ext cx="1783080" cy="146304"/>
          </a:xfrm>
          <a:prstGeom prst="rect">
            <a:avLst/>
          </a:prstGeom>
          <a:noFill/>
        </p:spPr>
        <p:txBody>
          <a:bodyPr wrap="square" lIns="0" tIns="0" rIns="0" bIns="0" anchor="t">
            <a:spAutoFit/>
          </a:bodyPr>
          <a:lstStyle/>
          <a:p>
            <a:pPr algn="l"/>
            <a:r>
              <a:rPr sz="1150" b="1" i="0">
                <a:solidFill>
                  <a:srgbClr val="64748B"/>
                </a:solidFill>
                <a:latin typeface="Segoe UI"/>
              </a:rPr>
              <a:t>Smoke API</a:t>
            </a:r>
          </a:p>
        </p:txBody>
      </p:sp>
      <p:sp>
        <p:nvSpPr>
          <p:cNvPr id="14" name="TextBox 13"/>
          <p:cNvSpPr txBox="1"/>
          <p:nvPr/>
        </p:nvSpPr>
        <p:spPr>
          <a:xfrm>
            <a:off x="3922776" y="2066544"/>
            <a:ext cx="1828800" cy="182880"/>
          </a:xfrm>
          <a:prstGeom prst="rect">
            <a:avLst/>
          </a:prstGeom>
          <a:noFill/>
        </p:spPr>
        <p:txBody>
          <a:bodyPr wrap="square" lIns="0" tIns="0" rIns="0" bIns="0" anchor="t">
            <a:spAutoFit/>
          </a:bodyPr>
          <a:lstStyle/>
          <a:p>
            <a:pPr algn="l"/>
            <a:r>
              <a:rPr sz="1800" b="1" i="0">
                <a:solidFill>
                  <a:srgbClr val="0F172A"/>
                </a:solidFill>
                <a:latin typeface="Segoe UI"/>
              </a:rPr>
              <a:t>Auth + Transaction</a:t>
            </a:r>
          </a:p>
        </p:txBody>
      </p:sp>
      <p:sp>
        <p:nvSpPr>
          <p:cNvPr id="15" name="Rounded Rectangle 14"/>
          <p:cNvSpPr/>
          <p:nvPr/>
        </p:nvSpPr>
        <p:spPr>
          <a:xfrm>
            <a:off x="6080760" y="1664208"/>
            <a:ext cx="22402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08776" y="1810512"/>
            <a:ext cx="91440" cy="621792"/>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91656" y="1828800"/>
            <a:ext cx="1783080" cy="146304"/>
          </a:xfrm>
          <a:prstGeom prst="rect">
            <a:avLst/>
          </a:prstGeom>
          <a:noFill/>
        </p:spPr>
        <p:txBody>
          <a:bodyPr wrap="square" lIns="0" tIns="0" rIns="0" bIns="0" anchor="t">
            <a:spAutoFit/>
          </a:bodyPr>
          <a:lstStyle/>
          <a:p>
            <a:pPr algn="l"/>
            <a:r>
              <a:rPr sz="1150" b="1" i="0">
                <a:solidFill>
                  <a:srgbClr val="64748B"/>
                </a:solidFill>
                <a:latin typeface="Segoe UI"/>
              </a:rPr>
              <a:t>API docs</a:t>
            </a:r>
          </a:p>
        </p:txBody>
      </p:sp>
      <p:sp>
        <p:nvSpPr>
          <p:cNvPr id="18" name="TextBox 17"/>
          <p:cNvSpPr txBox="1"/>
          <p:nvPr/>
        </p:nvSpPr>
        <p:spPr>
          <a:xfrm>
            <a:off x="6391656" y="2066544"/>
            <a:ext cx="1828800" cy="182880"/>
          </a:xfrm>
          <a:prstGeom prst="rect">
            <a:avLst/>
          </a:prstGeom>
          <a:noFill/>
        </p:spPr>
        <p:txBody>
          <a:bodyPr wrap="square" lIns="0" tIns="0" rIns="0" bIns="0" anchor="t">
            <a:spAutoFit/>
          </a:bodyPr>
          <a:lstStyle/>
          <a:p>
            <a:pPr algn="l"/>
            <a:r>
              <a:rPr sz="1800" b="1" i="0">
                <a:solidFill>
                  <a:srgbClr val="0F172A"/>
                </a:solidFill>
                <a:latin typeface="Segoe UI"/>
              </a:rPr>
              <a:t>Swagger + Postman</a:t>
            </a:r>
          </a:p>
        </p:txBody>
      </p:sp>
      <p:sp>
        <p:nvSpPr>
          <p:cNvPr id="19" name="Rounded Rectangle 18"/>
          <p:cNvSpPr/>
          <p:nvPr/>
        </p:nvSpPr>
        <p:spPr>
          <a:xfrm>
            <a:off x="8549640" y="1664208"/>
            <a:ext cx="24688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677656" y="1810512"/>
            <a:ext cx="91440" cy="621792"/>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0536" y="1828800"/>
            <a:ext cx="2011680" cy="146304"/>
          </a:xfrm>
          <a:prstGeom prst="rect">
            <a:avLst/>
          </a:prstGeom>
          <a:noFill/>
        </p:spPr>
        <p:txBody>
          <a:bodyPr wrap="square" lIns="0" tIns="0" rIns="0" bIns="0" anchor="t">
            <a:spAutoFit/>
          </a:bodyPr>
          <a:lstStyle/>
          <a:p>
            <a:pPr algn="l"/>
            <a:r>
              <a:rPr sz="1150" b="1" i="0">
                <a:solidFill>
                  <a:srgbClr val="64748B"/>
                </a:solidFill>
                <a:latin typeface="Segoe UI"/>
              </a:rPr>
              <a:t>Frontend QA</a:t>
            </a:r>
          </a:p>
        </p:txBody>
      </p:sp>
      <p:sp>
        <p:nvSpPr>
          <p:cNvPr id="22" name="TextBox 21"/>
          <p:cNvSpPr txBox="1"/>
          <p:nvPr/>
        </p:nvSpPr>
        <p:spPr>
          <a:xfrm>
            <a:off x="8860536" y="2066544"/>
            <a:ext cx="2057400" cy="182880"/>
          </a:xfrm>
          <a:prstGeom prst="rect">
            <a:avLst/>
          </a:prstGeom>
          <a:noFill/>
        </p:spPr>
        <p:txBody>
          <a:bodyPr wrap="square" lIns="0" tIns="0" rIns="0" bIns="0" anchor="t">
            <a:spAutoFit/>
          </a:bodyPr>
          <a:lstStyle/>
          <a:p>
            <a:pPr algn="l"/>
            <a:r>
              <a:rPr sz="1800" b="1" i="0">
                <a:solidFill>
                  <a:srgbClr val="0F172A"/>
                </a:solidFill>
                <a:latin typeface="Segoe UI"/>
              </a:rPr>
              <a:t>Vitest + Playwright</a:t>
            </a:r>
          </a:p>
        </p:txBody>
      </p:sp>
      <p:sp>
        <p:nvSpPr>
          <p:cNvPr id="23" name="Rounded Rectangle 22"/>
          <p:cNvSpPr/>
          <p:nvPr/>
        </p:nvSpPr>
        <p:spPr>
          <a:xfrm>
            <a:off x="868680" y="2926080"/>
            <a:ext cx="4983480" cy="3063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68680" y="2926080"/>
            <a:ext cx="498348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1560" y="3090672"/>
            <a:ext cx="4617720" cy="164592"/>
          </a:xfrm>
          <a:prstGeom prst="rect">
            <a:avLst/>
          </a:prstGeom>
          <a:noFill/>
        </p:spPr>
        <p:txBody>
          <a:bodyPr wrap="square" lIns="0" tIns="0" rIns="0" bIns="0" anchor="t">
            <a:spAutoFit/>
          </a:bodyPr>
          <a:lstStyle/>
          <a:p>
            <a:pPr algn="l"/>
            <a:r>
              <a:rPr sz="1700" b="1" i="0">
                <a:solidFill>
                  <a:srgbClr val="0F172A"/>
                </a:solidFill>
                <a:latin typeface="Segoe UI"/>
              </a:rPr>
              <a:t>Những gì có thể demo</a:t>
            </a:r>
          </a:p>
        </p:txBody>
      </p:sp>
      <p:sp>
        <p:nvSpPr>
          <p:cNvPr id="26" name="TextBox 25"/>
          <p:cNvSpPr txBox="1"/>
          <p:nvPr/>
        </p:nvSpPr>
        <p:spPr>
          <a:xfrm>
            <a:off x="1051560" y="3547872"/>
            <a:ext cx="4617720" cy="2240280"/>
          </a:xfrm>
          <a:prstGeom prst="rect">
            <a:avLst/>
          </a:prstGeom>
          <a:noFill/>
        </p:spPr>
        <p:txBody>
          <a:bodyPr wrap="square">
            <a:spAutoFit/>
          </a:bodyPr>
          <a:lstStyle/>
          <a:p>
            <a:pPr>
              <a:spcAft>
                <a:spcPts val="500"/>
              </a:spcAft>
            </a:pPr>
            <a:r>
              <a:rPr sz="1420" b="1">
                <a:solidFill>
                  <a:srgbClr val="22C55E"/>
                </a:solidFill>
              </a:rPr>
              <a:t>• </a:t>
            </a:r>
            <a:r>
              <a:rPr sz="1420">
                <a:solidFill>
                  <a:srgbClr val="475569"/>
                </a:solidFill>
                <a:latin typeface="Segoe UI"/>
              </a:rPr>
              <a:t>Đăng nhập để nhận JWT và gọi API protected.</a:t>
            </a:r>
          </a:p>
          <a:p>
            <a:pPr>
              <a:spcAft>
                <a:spcPts val="500"/>
              </a:spcAft>
            </a:pPr>
            <a:r>
              <a:rPr sz="1420" b="1">
                <a:solidFill>
                  <a:srgbClr val="22C55E"/>
                </a:solidFill>
              </a:rPr>
              <a:t>• </a:t>
            </a:r>
            <a:r>
              <a:rPr sz="1420">
                <a:solidFill>
                  <a:srgbClr val="475569"/>
                </a:solidFill>
                <a:latin typeface="Segoe UI"/>
              </a:rPr>
              <a:t>Nhập sai dữ liệu để chứng minh validation trả lỗi chuẩn.</a:t>
            </a:r>
          </a:p>
          <a:p>
            <a:pPr>
              <a:spcAft>
                <a:spcPts val="500"/>
              </a:spcAft>
            </a:pPr>
            <a:r>
              <a:rPr sz="1420" b="1">
                <a:solidFill>
                  <a:srgbClr val="22C55E"/>
                </a:solidFill>
              </a:rPr>
              <a:t>• </a:t>
            </a:r>
            <a:r>
              <a:rPr sz="1420">
                <a:solidFill>
                  <a:srgbClr val="475569"/>
                </a:solidFill>
                <a:latin typeface="Segoe UI"/>
              </a:rPr>
              <a:t>Thực hiện CRUD rồi đối chiếu dữ liệu trên dashboard hoặc danh sách.</a:t>
            </a:r>
          </a:p>
          <a:p>
            <a:pPr>
              <a:spcAft>
                <a:spcPts val="500"/>
              </a:spcAft>
            </a:pPr>
            <a:r>
              <a:rPr sz="1420" b="1">
                <a:solidFill>
                  <a:srgbClr val="22C55E"/>
                </a:solidFill>
              </a:rPr>
              <a:t>• </a:t>
            </a:r>
            <a:r>
              <a:rPr sz="1420">
                <a:solidFill>
                  <a:srgbClr val="475569"/>
                </a:solidFill>
                <a:latin typeface="Segoe UI"/>
              </a:rPr>
              <a:t>Mở Swagger để cho thấy tài liệu API có thể dùng ngay.</a:t>
            </a:r>
          </a:p>
        </p:txBody>
      </p:sp>
      <p:sp>
        <p:nvSpPr>
          <p:cNvPr id="27" name="Rounded Rectangle 26"/>
          <p:cNvSpPr/>
          <p:nvPr/>
        </p:nvSpPr>
        <p:spPr>
          <a:xfrm>
            <a:off x="6144768" y="2926080"/>
            <a:ext cx="4846320" cy="30632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82512" y="3163824"/>
            <a:ext cx="4297680" cy="164592"/>
          </a:xfrm>
          <a:prstGeom prst="rect">
            <a:avLst/>
          </a:prstGeom>
          <a:noFill/>
        </p:spPr>
        <p:txBody>
          <a:bodyPr wrap="square" lIns="0" tIns="0" rIns="0" bIns="0" anchor="t">
            <a:spAutoFit/>
          </a:bodyPr>
          <a:lstStyle/>
          <a:p>
            <a:pPr algn="l"/>
            <a:r>
              <a:rPr sz="1800" b="1" i="0">
                <a:solidFill>
                  <a:srgbClr val="FFFFFF"/>
                </a:solidFill>
                <a:latin typeface="Segoe UI"/>
              </a:rPr>
              <a:t>Nhận định QA</a:t>
            </a:r>
          </a:p>
        </p:txBody>
      </p:sp>
      <p:sp>
        <p:nvSpPr>
          <p:cNvPr id="29" name="TextBox 28"/>
          <p:cNvSpPr txBox="1"/>
          <p:nvPr/>
        </p:nvSpPr>
        <p:spPr>
          <a:xfrm>
            <a:off x="6382512" y="3566160"/>
            <a:ext cx="4160520" cy="1417320"/>
          </a:xfrm>
          <a:prstGeom prst="rect">
            <a:avLst/>
          </a:prstGeom>
          <a:noFill/>
        </p:spPr>
        <p:txBody>
          <a:bodyPr wrap="square" lIns="0" tIns="0" rIns="0" bIns="0" anchor="t">
            <a:spAutoFit/>
          </a:bodyPr>
          <a:lstStyle/>
          <a:p>
            <a:pPr algn="l"/>
            <a:r>
              <a:rPr sz="1900" b="1" i="0">
                <a:solidFill>
                  <a:srgbClr val="E2E8F0"/>
                </a:solidFill>
                <a:latin typeface="Segoe UI"/>
              </a:rPr>
              <a:t>Dự án đã vượt mức 'chạy được' nhờ có test backend thực thi, tài liệu API, kiểm chứng bằng Docker và dữ liệu demo có thể dùng cho nhiều luồng bảo vệ khác nhau.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Docker hóa và triển khai one-click</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Đây là phần rất quan trọng để chứng minh đề tài không phụ thuộc vào một môi trường cài đặt thủ công.</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19</a:t>
            </a:r>
          </a:p>
        </p:txBody>
      </p:sp>
      <p:sp>
        <p:nvSpPr>
          <p:cNvPr id="7" name="Rounded Rectangle 6"/>
          <p:cNvSpPr/>
          <p:nvPr/>
        </p:nvSpPr>
        <p:spPr>
          <a:xfrm>
            <a:off x="868680" y="1664208"/>
            <a:ext cx="5257800" cy="2267712"/>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01952"/>
            <a:ext cx="3017520" cy="164592"/>
          </a:xfrm>
          <a:prstGeom prst="rect">
            <a:avLst/>
          </a:prstGeom>
          <a:noFill/>
        </p:spPr>
        <p:txBody>
          <a:bodyPr wrap="square" lIns="0" tIns="0" rIns="0" bIns="0" anchor="t">
            <a:spAutoFit/>
          </a:bodyPr>
          <a:lstStyle/>
          <a:p>
            <a:pPr algn="l"/>
            <a:r>
              <a:rPr sz="1600" b="1" i="0">
                <a:solidFill>
                  <a:srgbClr val="FEF3C7"/>
                </a:solidFill>
                <a:latin typeface="Segoe UI"/>
              </a:rPr>
              <a:t>Lệnh demo chính</a:t>
            </a:r>
          </a:p>
        </p:txBody>
      </p:sp>
      <p:sp>
        <p:nvSpPr>
          <p:cNvPr id="9" name="TextBox 8"/>
          <p:cNvSpPr txBox="1"/>
          <p:nvPr/>
        </p:nvSpPr>
        <p:spPr>
          <a:xfrm>
            <a:off x="1097280" y="2240280"/>
            <a:ext cx="4572000" cy="201168"/>
          </a:xfrm>
          <a:prstGeom prst="rect">
            <a:avLst/>
          </a:prstGeom>
          <a:noFill/>
        </p:spPr>
        <p:txBody>
          <a:bodyPr wrap="square" lIns="0" tIns="0" rIns="0" bIns="0" anchor="t">
            <a:spAutoFit/>
          </a:bodyPr>
          <a:lstStyle/>
          <a:p>
            <a:pPr algn="l"/>
            <a:r>
              <a:rPr sz="2200" b="1" i="0">
                <a:solidFill>
                  <a:srgbClr val="FFFFFF"/>
                </a:solidFill>
                <a:latin typeface="Consolas"/>
              </a:rPr>
              <a:t>docker compose up -d --build</a:t>
            </a:r>
          </a:p>
        </p:txBody>
      </p:sp>
      <p:sp>
        <p:nvSpPr>
          <p:cNvPr id="10" name="TextBox 9"/>
          <p:cNvSpPr txBox="1"/>
          <p:nvPr/>
        </p:nvSpPr>
        <p:spPr>
          <a:xfrm>
            <a:off x="1097280" y="2697480"/>
            <a:ext cx="4617720" cy="658368"/>
          </a:xfrm>
          <a:prstGeom prst="rect">
            <a:avLst/>
          </a:prstGeom>
          <a:noFill/>
        </p:spPr>
        <p:txBody>
          <a:bodyPr wrap="square" lIns="0" tIns="0" rIns="0" bIns="0" anchor="t">
            <a:spAutoFit/>
          </a:bodyPr>
          <a:lstStyle/>
          <a:p>
            <a:pPr algn="l"/>
            <a:r>
              <a:rPr sz="1300" b="0" i="0">
                <a:solidFill>
                  <a:srgbClr val="E2E8F0"/>
                </a:solidFill>
                <a:latin typeface="Consolas"/>
              </a:rPr>
              <a:t>Sau khi dựng xong có thể truy cập:</a:t>
            </a:r>
            <a:br/>
            <a:r>
              <a:t>• Web: http://localhost</a:t>
            </a:r>
            <a:br/>
            <a:r>
              <a:t>• API: http://localhost:5000</a:t>
            </a:r>
            <a:br/>
            <a:r>
              <a:t>• Swagger: http://localhost:5000/api-docs</a:t>
            </a:r>
          </a:p>
        </p:txBody>
      </p:sp>
      <p:sp>
        <p:nvSpPr>
          <p:cNvPr id="11" name="Rounded Rectangle 10"/>
          <p:cNvSpPr/>
          <p:nvPr/>
        </p:nvSpPr>
        <p:spPr>
          <a:xfrm>
            <a:off x="6400800" y="1664208"/>
            <a:ext cx="2148840" cy="932688"/>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65392" y="1810512"/>
            <a:ext cx="914400" cy="146304"/>
          </a:xfrm>
          <a:prstGeom prst="rect">
            <a:avLst/>
          </a:prstGeom>
          <a:noFill/>
        </p:spPr>
        <p:txBody>
          <a:bodyPr wrap="square" lIns="0" tIns="0" rIns="0" bIns="0" anchor="t">
            <a:spAutoFit/>
          </a:bodyPr>
          <a:lstStyle/>
          <a:p>
            <a:pPr algn="l"/>
            <a:r>
              <a:rPr sz="1600" b="1" i="0">
                <a:solidFill>
                  <a:srgbClr val="0F172A"/>
                </a:solidFill>
                <a:latin typeface="Segoe UI"/>
              </a:rPr>
              <a:t>web</a:t>
            </a:r>
          </a:p>
        </p:txBody>
      </p:sp>
      <p:sp>
        <p:nvSpPr>
          <p:cNvPr id="13" name="TextBox 12"/>
          <p:cNvSpPr txBox="1"/>
          <p:nvPr/>
        </p:nvSpPr>
        <p:spPr>
          <a:xfrm>
            <a:off x="6565392" y="2057400"/>
            <a:ext cx="1691640" cy="128016"/>
          </a:xfrm>
          <a:prstGeom prst="rect">
            <a:avLst/>
          </a:prstGeom>
          <a:noFill/>
        </p:spPr>
        <p:txBody>
          <a:bodyPr wrap="square" lIns="0" tIns="0" rIns="0" bIns="0" anchor="t">
            <a:spAutoFit/>
          </a:bodyPr>
          <a:lstStyle/>
          <a:p>
            <a:pPr algn="l"/>
            <a:r>
              <a:rPr sz="1120" b="0" i="0">
                <a:solidFill>
                  <a:srgbClr val="475569"/>
                </a:solidFill>
                <a:latin typeface="Segoe UI"/>
              </a:rPr>
              <a:t>Nginx + React build</a:t>
            </a:r>
          </a:p>
        </p:txBody>
      </p:sp>
      <p:sp>
        <p:nvSpPr>
          <p:cNvPr id="14" name="TextBox 13"/>
          <p:cNvSpPr txBox="1"/>
          <p:nvPr/>
        </p:nvSpPr>
        <p:spPr>
          <a:xfrm>
            <a:off x="6565392" y="2286000"/>
            <a:ext cx="1325880" cy="128016"/>
          </a:xfrm>
          <a:prstGeom prst="rect">
            <a:avLst/>
          </a:prstGeom>
          <a:noFill/>
        </p:spPr>
        <p:txBody>
          <a:bodyPr wrap="square" lIns="0" tIns="0" rIns="0" bIns="0" anchor="t">
            <a:spAutoFit/>
          </a:bodyPr>
          <a:lstStyle/>
          <a:p>
            <a:pPr algn="l"/>
            <a:r>
              <a:rPr sz="1120" b="1" i="0">
                <a:solidFill>
                  <a:srgbClr val="64748B"/>
                </a:solidFill>
                <a:latin typeface="Segoe UI"/>
              </a:rPr>
              <a:t>Port 80</a:t>
            </a:r>
          </a:p>
        </p:txBody>
      </p:sp>
      <p:sp>
        <p:nvSpPr>
          <p:cNvPr id="15" name="Rounded Rectangle 14"/>
          <p:cNvSpPr/>
          <p:nvPr/>
        </p:nvSpPr>
        <p:spPr>
          <a:xfrm>
            <a:off x="8942832" y="1664208"/>
            <a:ext cx="2148840" cy="932688"/>
          </a:xfrm>
          <a:prstGeom prst="roundRect">
            <a:avLst/>
          </a:prstGeom>
          <a:solidFill>
            <a:srgbClr val="CCFBF1"/>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07424" y="1810512"/>
            <a:ext cx="914400" cy="146304"/>
          </a:xfrm>
          <a:prstGeom prst="rect">
            <a:avLst/>
          </a:prstGeom>
          <a:noFill/>
        </p:spPr>
        <p:txBody>
          <a:bodyPr wrap="square" lIns="0" tIns="0" rIns="0" bIns="0" anchor="t">
            <a:spAutoFit/>
          </a:bodyPr>
          <a:lstStyle/>
          <a:p>
            <a:pPr algn="l"/>
            <a:r>
              <a:rPr sz="1600" b="1" i="0">
                <a:solidFill>
                  <a:srgbClr val="0F172A"/>
                </a:solidFill>
                <a:latin typeface="Segoe UI"/>
              </a:rPr>
              <a:t>api</a:t>
            </a:r>
          </a:p>
        </p:txBody>
      </p:sp>
      <p:sp>
        <p:nvSpPr>
          <p:cNvPr id="17" name="TextBox 16"/>
          <p:cNvSpPr txBox="1"/>
          <p:nvPr/>
        </p:nvSpPr>
        <p:spPr>
          <a:xfrm>
            <a:off x="9107424" y="2057400"/>
            <a:ext cx="1691640" cy="128016"/>
          </a:xfrm>
          <a:prstGeom prst="rect">
            <a:avLst/>
          </a:prstGeom>
          <a:noFill/>
        </p:spPr>
        <p:txBody>
          <a:bodyPr wrap="square" lIns="0" tIns="0" rIns="0" bIns="0" anchor="t">
            <a:spAutoFit/>
          </a:bodyPr>
          <a:lstStyle/>
          <a:p>
            <a:pPr algn="l"/>
            <a:r>
              <a:rPr sz="1120" b="0" i="0">
                <a:solidFill>
                  <a:srgbClr val="475569"/>
                </a:solidFill>
                <a:latin typeface="Segoe UI"/>
              </a:rPr>
              <a:t>Node.js + Express</a:t>
            </a:r>
          </a:p>
        </p:txBody>
      </p:sp>
      <p:sp>
        <p:nvSpPr>
          <p:cNvPr id="18" name="TextBox 17"/>
          <p:cNvSpPr txBox="1"/>
          <p:nvPr/>
        </p:nvSpPr>
        <p:spPr>
          <a:xfrm>
            <a:off x="9107424" y="2286000"/>
            <a:ext cx="1325880" cy="128016"/>
          </a:xfrm>
          <a:prstGeom prst="rect">
            <a:avLst/>
          </a:prstGeom>
          <a:noFill/>
        </p:spPr>
        <p:txBody>
          <a:bodyPr wrap="square" lIns="0" tIns="0" rIns="0" bIns="0" anchor="t">
            <a:spAutoFit/>
          </a:bodyPr>
          <a:lstStyle/>
          <a:p>
            <a:pPr algn="l"/>
            <a:r>
              <a:rPr sz="1120" b="1" i="0">
                <a:solidFill>
                  <a:srgbClr val="64748B"/>
                </a:solidFill>
                <a:latin typeface="Segoe UI"/>
              </a:rPr>
              <a:t>Port 5000</a:t>
            </a:r>
          </a:p>
        </p:txBody>
      </p:sp>
      <p:sp>
        <p:nvSpPr>
          <p:cNvPr id="19" name="Rounded Rectangle 18"/>
          <p:cNvSpPr/>
          <p:nvPr/>
        </p:nvSpPr>
        <p:spPr>
          <a:xfrm>
            <a:off x="6400800" y="2852928"/>
            <a:ext cx="2148840" cy="932688"/>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65392" y="2999232"/>
            <a:ext cx="914400" cy="146304"/>
          </a:xfrm>
          <a:prstGeom prst="rect">
            <a:avLst/>
          </a:prstGeom>
          <a:noFill/>
        </p:spPr>
        <p:txBody>
          <a:bodyPr wrap="square" lIns="0" tIns="0" rIns="0" bIns="0" anchor="t">
            <a:spAutoFit/>
          </a:bodyPr>
          <a:lstStyle/>
          <a:p>
            <a:pPr algn="l"/>
            <a:r>
              <a:rPr sz="1600" b="1" i="0">
                <a:solidFill>
                  <a:srgbClr val="0F172A"/>
                </a:solidFill>
                <a:latin typeface="Segoe UI"/>
              </a:rPr>
              <a:t>db</a:t>
            </a:r>
          </a:p>
        </p:txBody>
      </p:sp>
      <p:sp>
        <p:nvSpPr>
          <p:cNvPr id="21" name="TextBox 20"/>
          <p:cNvSpPr txBox="1"/>
          <p:nvPr/>
        </p:nvSpPr>
        <p:spPr>
          <a:xfrm>
            <a:off x="6565392" y="3246120"/>
            <a:ext cx="1691640" cy="128016"/>
          </a:xfrm>
          <a:prstGeom prst="rect">
            <a:avLst/>
          </a:prstGeom>
          <a:noFill/>
        </p:spPr>
        <p:txBody>
          <a:bodyPr wrap="square" lIns="0" tIns="0" rIns="0" bIns="0" anchor="t">
            <a:spAutoFit/>
          </a:bodyPr>
          <a:lstStyle/>
          <a:p>
            <a:pPr algn="l"/>
            <a:r>
              <a:rPr sz="1120" b="0" i="0">
                <a:solidFill>
                  <a:srgbClr val="475569"/>
                </a:solidFill>
                <a:latin typeface="Segoe UI"/>
              </a:rPr>
              <a:t>PostgreSQL 15</a:t>
            </a:r>
          </a:p>
        </p:txBody>
      </p:sp>
      <p:sp>
        <p:nvSpPr>
          <p:cNvPr id="22" name="TextBox 21"/>
          <p:cNvSpPr txBox="1"/>
          <p:nvPr/>
        </p:nvSpPr>
        <p:spPr>
          <a:xfrm>
            <a:off x="6565392" y="3474720"/>
            <a:ext cx="1325880" cy="128016"/>
          </a:xfrm>
          <a:prstGeom prst="rect">
            <a:avLst/>
          </a:prstGeom>
          <a:noFill/>
        </p:spPr>
        <p:txBody>
          <a:bodyPr wrap="square" lIns="0" tIns="0" rIns="0" bIns="0" anchor="t">
            <a:spAutoFit/>
          </a:bodyPr>
          <a:lstStyle/>
          <a:p>
            <a:pPr algn="l"/>
            <a:r>
              <a:rPr sz="1120" b="1" i="0">
                <a:solidFill>
                  <a:srgbClr val="64748B"/>
                </a:solidFill>
                <a:latin typeface="Segoe UI"/>
              </a:rPr>
              <a:t>Port 5432</a:t>
            </a:r>
          </a:p>
        </p:txBody>
      </p:sp>
      <p:sp>
        <p:nvSpPr>
          <p:cNvPr id="23" name="Rounded Rectangle 22"/>
          <p:cNvSpPr/>
          <p:nvPr/>
        </p:nvSpPr>
        <p:spPr>
          <a:xfrm>
            <a:off x="8942832" y="2852928"/>
            <a:ext cx="2148840" cy="932688"/>
          </a:xfrm>
          <a:prstGeom prst="roundRect">
            <a:avLst/>
          </a:prstGeom>
          <a:solidFill>
            <a:srgbClr val="FEE2E2"/>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07424" y="2999232"/>
            <a:ext cx="914400" cy="146304"/>
          </a:xfrm>
          <a:prstGeom prst="rect">
            <a:avLst/>
          </a:prstGeom>
          <a:noFill/>
        </p:spPr>
        <p:txBody>
          <a:bodyPr wrap="square" lIns="0" tIns="0" rIns="0" bIns="0" anchor="t">
            <a:spAutoFit/>
          </a:bodyPr>
          <a:lstStyle/>
          <a:p>
            <a:pPr algn="l"/>
            <a:r>
              <a:rPr sz="1600" b="1" i="0">
                <a:solidFill>
                  <a:srgbClr val="0F172A"/>
                </a:solidFill>
                <a:latin typeface="Segoe UI"/>
              </a:rPr>
              <a:t>redis</a:t>
            </a:r>
          </a:p>
        </p:txBody>
      </p:sp>
      <p:sp>
        <p:nvSpPr>
          <p:cNvPr id="25" name="TextBox 24"/>
          <p:cNvSpPr txBox="1"/>
          <p:nvPr/>
        </p:nvSpPr>
        <p:spPr>
          <a:xfrm>
            <a:off x="9107424" y="3246120"/>
            <a:ext cx="1691640" cy="128016"/>
          </a:xfrm>
          <a:prstGeom prst="rect">
            <a:avLst/>
          </a:prstGeom>
          <a:noFill/>
        </p:spPr>
        <p:txBody>
          <a:bodyPr wrap="square" lIns="0" tIns="0" rIns="0" bIns="0" anchor="t">
            <a:spAutoFit/>
          </a:bodyPr>
          <a:lstStyle/>
          <a:p>
            <a:pPr algn="l"/>
            <a:r>
              <a:rPr sz="1120" b="0" i="0">
                <a:solidFill>
                  <a:srgbClr val="475569"/>
                </a:solidFill>
                <a:latin typeface="Segoe UI"/>
              </a:rPr>
              <a:t>Redis 7</a:t>
            </a:r>
          </a:p>
        </p:txBody>
      </p:sp>
      <p:sp>
        <p:nvSpPr>
          <p:cNvPr id="26" name="TextBox 25"/>
          <p:cNvSpPr txBox="1"/>
          <p:nvPr/>
        </p:nvSpPr>
        <p:spPr>
          <a:xfrm>
            <a:off x="9107424" y="3474720"/>
            <a:ext cx="1325880" cy="128016"/>
          </a:xfrm>
          <a:prstGeom prst="rect">
            <a:avLst/>
          </a:prstGeom>
          <a:noFill/>
        </p:spPr>
        <p:txBody>
          <a:bodyPr wrap="square" lIns="0" tIns="0" rIns="0" bIns="0" anchor="t">
            <a:spAutoFit/>
          </a:bodyPr>
          <a:lstStyle/>
          <a:p>
            <a:pPr algn="l"/>
            <a:r>
              <a:rPr sz="1120" b="1" i="0">
                <a:solidFill>
                  <a:srgbClr val="64748B"/>
                </a:solidFill>
                <a:latin typeface="Segoe UI"/>
              </a:rPr>
              <a:t>Port 6379</a:t>
            </a:r>
          </a:p>
        </p:txBody>
      </p:sp>
      <p:sp>
        <p:nvSpPr>
          <p:cNvPr id="27" name="Rounded Rectangle 26"/>
          <p:cNvSpPr/>
          <p:nvPr/>
        </p:nvSpPr>
        <p:spPr>
          <a:xfrm>
            <a:off x="868680" y="4315968"/>
            <a:ext cx="10222992" cy="16642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68680" y="4315968"/>
            <a:ext cx="10222992"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51560" y="4480560"/>
            <a:ext cx="9857232" cy="164592"/>
          </a:xfrm>
          <a:prstGeom prst="rect">
            <a:avLst/>
          </a:prstGeom>
          <a:noFill/>
        </p:spPr>
        <p:txBody>
          <a:bodyPr wrap="square" lIns="0" tIns="0" rIns="0" bIns="0" anchor="t">
            <a:spAutoFit/>
          </a:bodyPr>
          <a:lstStyle/>
          <a:p>
            <a:pPr algn="l"/>
            <a:r>
              <a:rPr sz="1700" b="1" i="0">
                <a:solidFill>
                  <a:srgbClr val="0F172A"/>
                </a:solidFill>
                <a:latin typeface="Segoe UI"/>
              </a:rPr>
              <a:t>Điểm mạnh khi bảo vệ</a:t>
            </a:r>
          </a:p>
        </p:txBody>
      </p:sp>
      <p:sp>
        <p:nvSpPr>
          <p:cNvPr id="30" name="TextBox 29"/>
          <p:cNvSpPr txBox="1"/>
          <p:nvPr/>
        </p:nvSpPr>
        <p:spPr>
          <a:xfrm>
            <a:off x="1051560" y="4937760"/>
            <a:ext cx="9857232" cy="841248"/>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Container API có thể tự migrate và seed dữ liệu demo khi khởi động.</a:t>
            </a:r>
          </a:p>
          <a:p>
            <a:pPr>
              <a:spcAft>
                <a:spcPts val="500"/>
              </a:spcAft>
            </a:pPr>
            <a:r>
              <a:rPr sz="1420" b="1">
                <a:solidFill>
                  <a:srgbClr val="14B8A6"/>
                </a:solidFill>
              </a:rPr>
              <a:t>• </a:t>
            </a:r>
            <a:r>
              <a:rPr sz="1420">
                <a:solidFill>
                  <a:srgbClr val="475569"/>
                </a:solidFill>
                <a:latin typeface="Segoe UI"/>
              </a:rPr>
              <a:t>Các service có healthcheck và phụ thuộc được điều phối trong docker-compose.</a:t>
            </a:r>
          </a:p>
          <a:p>
            <a:pPr>
              <a:spcAft>
                <a:spcPts val="500"/>
              </a:spcAft>
            </a:pPr>
            <a:r>
              <a:rPr sz="1420" b="1">
                <a:solidFill>
                  <a:srgbClr val="14B8A6"/>
                </a:solidFill>
              </a:rPr>
              <a:t>• </a:t>
            </a:r>
            <a:r>
              <a:rPr sz="1420">
                <a:solidFill>
                  <a:srgbClr val="475569"/>
                </a:solidFill>
                <a:latin typeface="Segoe UI"/>
              </a:rPr>
              <a:t>Việc dựng lại hệ thống bằng một lệnh là bằng chứng mạnh nhất cho tính tái lập của dự án.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Mức độ hoàn thiện và các điểm đã sẵn sàng</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Slide này nên dùng để trả lời câu hỏi: dự án đã hoàn thiện đến đâu tính đến thời điểm bảo vệ.</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20</a:t>
            </a:r>
          </a:p>
        </p:txBody>
      </p:sp>
      <p:sp>
        <p:nvSpPr>
          <p:cNvPr id="7" name="Rounded Rectangle 6"/>
          <p:cNvSpPr/>
          <p:nvPr/>
        </p:nvSpPr>
        <p:spPr>
          <a:xfrm>
            <a:off x="841248" y="1691640"/>
            <a:ext cx="3310128"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1248" y="1691640"/>
            <a:ext cx="3310128"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1856232"/>
            <a:ext cx="2944368" cy="164592"/>
          </a:xfrm>
          <a:prstGeom prst="rect">
            <a:avLst/>
          </a:prstGeom>
          <a:noFill/>
        </p:spPr>
        <p:txBody>
          <a:bodyPr wrap="square" lIns="0" tIns="0" rIns="0" bIns="0" anchor="t">
            <a:spAutoFit/>
          </a:bodyPr>
          <a:lstStyle/>
          <a:p>
            <a:pPr algn="l"/>
            <a:r>
              <a:rPr sz="1700" b="1" i="0">
                <a:solidFill>
                  <a:srgbClr val="0F172A"/>
                </a:solidFill>
                <a:latin typeface="Segoe UI"/>
              </a:rPr>
              <a:t>Đã hoàn thiện khá chắc</a:t>
            </a:r>
          </a:p>
        </p:txBody>
      </p:sp>
      <p:sp>
        <p:nvSpPr>
          <p:cNvPr id="10" name="TextBox 9"/>
          <p:cNvSpPr txBox="1"/>
          <p:nvPr/>
        </p:nvSpPr>
        <p:spPr>
          <a:xfrm>
            <a:off x="1024128" y="2313432"/>
            <a:ext cx="2944368" cy="347472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FE/BE tách biệt rõ, có SPA và REST API.</a:t>
            </a:r>
          </a:p>
          <a:p>
            <a:pPr>
              <a:spcAft>
                <a:spcPts val="500"/>
              </a:spcAft>
            </a:pPr>
            <a:r>
              <a:rPr sz="1420" b="1">
                <a:solidFill>
                  <a:srgbClr val="0EA5E9"/>
                </a:solidFill>
              </a:rPr>
              <a:t>• </a:t>
            </a:r>
            <a:r>
              <a:rPr sz="1420">
                <a:solidFill>
                  <a:srgbClr val="475569"/>
                </a:solidFill>
                <a:latin typeface="Segoe UI"/>
              </a:rPr>
              <a:t>JWT, RBAC, dashboard, Swagger, Docker đều đã có.</a:t>
            </a:r>
          </a:p>
          <a:p>
            <a:pPr>
              <a:spcAft>
                <a:spcPts val="500"/>
              </a:spcAft>
            </a:pPr>
            <a:r>
              <a:rPr sz="1420" b="1">
                <a:solidFill>
                  <a:srgbClr val="0EA5E9"/>
                </a:solidFill>
              </a:rPr>
              <a:t>• </a:t>
            </a:r>
            <a:r>
              <a:rPr sz="1420">
                <a:solidFill>
                  <a:srgbClr val="475569"/>
                </a:solidFill>
                <a:latin typeface="Segoe UI"/>
              </a:rPr>
              <a:t>Nhiều luồng chức năng có thể demo trực tiếp.</a:t>
            </a:r>
          </a:p>
          <a:p>
            <a:pPr>
              <a:spcAft>
                <a:spcPts val="500"/>
              </a:spcAft>
            </a:pPr>
            <a:r>
              <a:rPr sz="1420" b="1">
                <a:solidFill>
                  <a:srgbClr val="0EA5E9"/>
                </a:solidFill>
              </a:rPr>
              <a:t>• </a:t>
            </a:r>
            <a:r>
              <a:rPr sz="1420">
                <a:solidFill>
                  <a:srgbClr val="475569"/>
                </a:solidFill>
                <a:latin typeface="Segoe UI"/>
              </a:rPr>
              <a:t>Đã có test backend thực thi và môi trường demo thật.</a:t>
            </a:r>
          </a:p>
        </p:txBody>
      </p:sp>
      <p:sp>
        <p:nvSpPr>
          <p:cNvPr id="11" name="Rounded Rectangle 10"/>
          <p:cNvSpPr/>
          <p:nvPr/>
        </p:nvSpPr>
        <p:spPr>
          <a:xfrm>
            <a:off x="4315968" y="1691640"/>
            <a:ext cx="3310128"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15968" y="1691640"/>
            <a:ext cx="3310128" cy="4572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856232"/>
            <a:ext cx="2944368" cy="164592"/>
          </a:xfrm>
          <a:prstGeom prst="rect">
            <a:avLst/>
          </a:prstGeom>
          <a:noFill/>
        </p:spPr>
        <p:txBody>
          <a:bodyPr wrap="square" lIns="0" tIns="0" rIns="0" bIns="0" anchor="t">
            <a:spAutoFit/>
          </a:bodyPr>
          <a:lstStyle/>
          <a:p>
            <a:pPr algn="l"/>
            <a:r>
              <a:rPr sz="1700" b="1" i="0">
                <a:solidFill>
                  <a:srgbClr val="0F172A"/>
                </a:solidFill>
                <a:latin typeface="Segoe UI"/>
              </a:rPr>
              <a:t>Các điểm cần nói trung thực</a:t>
            </a:r>
          </a:p>
        </p:txBody>
      </p:sp>
      <p:sp>
        <p:nvSpPr>
          <p:cNvPr id="14" name="TextBox 13"/>
          <p:cNvSpPr txBox="1"/>
          <p:nvPr/>
        </p:nvSpPr>
        <p:spPr>
          <a:xfrm>
            <a:off x="4498848" y="2313432"/>
            <a:ext cx="2944368" cy="3474720"/>
          </a:xfrm>
          <a:prstGeom prst="rect">
            <a:avLst/>
          </a:prstGeom>
          <a:noFill/>
        </p:spPr>
        <p:txBody>
          <a:bodyPr wrap="square">
            <a:spAutoFit/>
          </a:bodyPr>
          <a:lstStyle/>
          <a:p>
            <a:pPr>
              <a:spcAft>
                <a:spcPts val="500"/>
              </a:spcAft>
            </a:pPr>
            <a:r>
              <a:rPr sz="1420" b="1">
                <a:solidFill>
                  <a:srgbClr val="F59E0B"/>
                </a:solidFill>
              </a:rPr>
              <a:t>• </a:t>
            </a:r>
            <a:r>
              <a:rPr sz="1420">
                <a:solidFill>
                  <a:srgbClr val="475569"/>
                </a:solidFill>
                <a:latin typeface="Segoe UI"/>
              </a:rPr>
              <a:t>Seeder dữ liệu lớn 500-1000 bản ghi vẫn là hạng mục nên hoàn thiện thêm.</a:t>
            </a:r>
          </a:p>
          <a:p>
            <a:pPr>
              <a:spcAft>
                <a:spcPts val="500"/>
              </a:spcAft>
            </a:pPr>
            <a:r>
              <a:rPr sz="1420" b="1">
                <a:solidFill>
                  <a:srgbClr val="F59E0B"/>
                </a:solidFill>
              </a:rPr>
              <a:t>• </a:t>
            </a:r>
            <a:r>
              <a:rPr sz="1420">
                <a:solidFill>
                  <a:srgbClr val="475569"/>
                </a:solidFill>
                <a:latin typeface="Segoe UI"/>
              </a:rPr>
              <a:t>Secret nên chuyển sạch hơn sang file .env khi bàn giao chính thức.</a:t>
            </a:r>
          </a:p>
          <a:p>
            <a:pPr>
              <a:spcAft>
                <a:spcPts val="500"/>
              </a:spcAft>
            </a:pPr>
            <a:r>
              <a:rPr sz="1420" b="1">
                <a:solidFill>
                  <a:srgbClr val="F59E0B"/>
                </a:solidFill>
              </a:rPr>
              <a:t>• </a:t>
            </a:r>
            <a:r>
              <a:rPr sz="1420">
                <a:solidFill>
                  <a:srgbClr val="475569"/>
                </a:solidFill>
                <a:latin typeface="Segoe UI"/>
              </a:rPr>
              <a:t>Một số chi tiết UI/test frontend còn có thể tiếp tục nâng chất lượng.</a:t>
            </a:r>
          </a:p>
        </p:txBody>
      </p:sp>
      <p:sp>
        <p:nvSpPr>
          <p:cNvPr id="15" name="Rounded Rectangle 14"/>
          <p:cNvSpPr/>
          <p:nvPr/>
        </p:nvSpPr>
        <p:spPr>
          <a:xfrm>
            <a:off x="7790688" y="1691640"/>
            <a:ext cx="3291840" cy="42976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0" y="1938528"/>
            <a:ext cx="2743200" cy="164592"/>
          </a:xfrm>
          <a:prstGeom prst="rect">
            <a:avLst/>
          </a:prstGeom>
          <a:noFill/>
        </p:spPr>
        <p:txBody>
          <a:bodyPr wrap="square" lIns="0" tIns="0" rIns="0" bIns="0" anchor="t">
            <a:spAutoFit/>
          </a:bodyPr>
          <a:lstStyle/>
          <a:p>
            <a:pPr algn="l"/>
            <a:r>
              <a:rPr sz="1800" b="1" i="0">
                <a:solidFill>
                  <a:srgbClr val="FFFFFF"/>
                </a:solidFill>
                <a:latin typeface="Segoe UI"/>
              </a:rPr>
              <a:t>Kết luận đánh giá</a:t>
            </a:r>
          </a:p>
        </p:txBody>
      </p:sp>
      <p:sp>
        <p:nvSpPr>
          <p:cNvPr id="17" name="TextBox 16"/>
          <p:cNvSpPr txBox="1"/>
          <p:nvPr/>
        </p:nvSpPr>
        <p:spPr>
          <a:xfrm>
            <a:off x="8046720" y="2359152"/>
            <a:ext cx="2560320" cy="1554480"/>
          </a:xfrm>
          <a:prstGeom prst="rect">
            <a:avLst/>
          </a:prstGeom>
          <a:noFill/>
        </p:spPr>
        <p:txBody>
          <a:bodyPr wrap="square" lIns="0" tIns="0" rIns="0" bIns="0" anchor="t">
            <a:spAutoFit/>
          </a:bodyPr>
          <a:lstStyle/>
          <a:p>
            <a:pPr algn="l"/>
            <a:r>
              <a:rPr sz="2000" b="1" i="0">
                <a:solidFill>
                  <a:srgbClr val="E2E8F0"/>
                </a:solidFill>
                <a:latin typeface="Segoe UI"/>
              </a:rPr>
              <a:t>Nếu loại trừ phần chuẩn bị tài liệu demo, hệ thống đã đủ mạnh để bảo vệ kỹ thuật và thể hiện rõ năng lực xây dựng một ứng dụng web full-stack có thể triển khai.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Rounded Rectangle 1"/>
          <p:cNvSpPr/>
          <p:nvPr/>
        </p:nvSpPr>
        <p:spPr>
          <a:xfrm>
            <a:off x="594360" y="384048"/>
            <a:ext cx="960120" cy="109728"/>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4114800" cy="182880"/>
          </a:xfrm>
          <a:prstGeom prst="rect">
            <a:avLst/>
          </a:prstGeom>
          <a:noFill/>
        </p:spPr>
        <p:txBody>
          <a:bodyPr wrap="square" lIns="0" tIns="0" rIns="0" bIns="0" anchor="t">
            <a:spAutoFit/>
          </a:bodyPr>
          <a:lstStyle/>
          <a:p>
            <a:pPr algn="l"/>
            <a:r>
              <a:rPr sz="1100" b="1" i="0">
                <a:solidFill>
                  <a:srgbClr val="0EA5E9"/>
                </a:solidFill>
                <a:latin typeface="Segoe UI"/>
              </a:rPr>
              <a:t>JUNKIO EXPENSE TRACKER</a:t>
            </a:r>
          </a:p>
        </p:txBody>
      </p:sp>
      <p:sp>
        <p:nvSpPr>
          <p:cNvPr id="4" name="TextBox 3"/>
          <p:cNvSpPr txBox="1"/>
          <p:nvPr/>
        </p:nvSpPr>
        <p:spPr>
          <a:xfrm>
            <a:off x="731520" y="512064"/>
            <a:ext cx="9784080" cy="384048"/>
          </a:xfrm>
          <a:prstGeom prst="rect">
            <a:avLst/>
          </a:prstGeom>
          <a:noFill/>
        </p:spPr>
        <p:txBody>
          <a:bodyPr wrap="square" lIns="0" tIns="0" rIns="0" bIns="0" anchor="t">
            <a:spAutoFit/>
          </a:bodyPr>
          <a:lstStyle/>
          <a:p>
            <a:pPr algn="l"/>
            <a:r>
              <a:rPr sz="2600" b="1" i="0">
                <a:solidFill>
                  <a:srgbClr val="0F172A"/>
                </a:solidFill>
                <a:latin typeface="Segoe UI"/>
              </a:rPr>
              <a:t>Hạn chế hiện tại và hướng phát triển</a:t>
            </a:r>
          </a:p>
        </p:txBody>
      </p:sp>
      <p:sp>
        <p:nvSpPr>
          <p:cNvPr id="5" name="TextBox 4"/>
          <p:cNvSpPr txBox="1"/>
          <p:nvPr/>
        </p:nvSpPr>
        <p:spPr>
          <a:xfrm>
            <a:off x="731520" y="932688"/>
            <a:ext cx="10058400" cy="219456"/>
          </a:xfrm>
          <a:prstGeom prst="rect">
            <a:avLst/>
          </a:prstGeom>
          <a:noFill/>
        </p:spPr>
        <p:txBody>
          <a:bodyPr wrap="square" lIns="0" tIns="0" rIns="0" bIns="0" anchor="t">
            <a:spAutoFit/>
          </a:bodyPr>
          <a:lstStyle/>
          <a:p>
            <a:pPr algn="l"/>
            <a:r>
              <a:rPr sz="1250" b="0" i="0">
                <a:solidFill>
                  <a:srgbClr val="64748B"/>
                </a:solidFill>
                <a:latin typeface="Segoe UI"/>
              </a:rPr>
              <a:t>Một slide cân bằng giúp phần kết luận thuyết phục hơn vì thừa nhận đúng các điểm còn lại và đưa ra lộ trình tiếp theo.</a:t>
            </a:r>
          </a:p>
        </p:txBody>
      </p:sp>
      <p:sp>
        <p:nvSpPr>
          <p:cNvPr id="6" name="TextBox 5"/>
          <p:cNvSpPr txBox="1"/>
          <p:nvPr/>
        </p:nvSpPr>
        <p:spPr>
          <a:xfrm>
            <a:off x="11109960" y="274320"/>
            <a:ext cx="411480" cy="164592"/>
          </a:xfrm>
          <a:prstGeom prst="rect">
            <a:avLst/>
          </a:prstGeom>
          <a:noFill/>
        </p:spPr>
        <p:txBody>
          <a:bodyPr wrap="square" lIns="0" tIns="0" rIns="0" bIns="0" anchor="t">
            <a:spAutoFit/>
          </a:bodyPr>
          <a:lstStyle/>
          <a:p>
            <a:pPr algn="r"/>
            <a:r>
              <a:rPr sz="1200" b="1" i="0">
                <a:solidFill>
                  <a:srgbClr val="64748B"/>
                </a:solidFill>
                <a:latin typeface="Segoe UI"/>
              </a:rPr>
              <a:t>21</a:t>
            </a:r>
          </a:p>
        </p:txBody>
      </p:sp>
      <p:sp>
        <p:nvSpPr>
          <p:cNvPr id="7" name="Rounded Rectangle 6"/>
          <p:cNvSpPr/>
          <p:nvPr/>
        </p:nvSpPr>
        <p:spPr>
          <a:xfrm>
            <a:off x="868680" y="1719072"/>
            <a:ext cx="3337560"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68680" y="1719072"/>
            <a:ext cx="3337560" cy="457200"/>
          </a:xfrm>
          <a:prstGeom prst="round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883664"/>
            <a:ext cx="2971800" cy="164592"/>
          </a:xfrm>
          <a:prstGeom prst="rect">
            <a:avLst/>
          </a:prstGeom>
          <a:noFill/>
        </p:spPr>
        <p:txBody>
          <a:bodyPr wrap="square" lIns="0" tIns="0" rIns="0" bIns="0" anchor="t">
            <a:spAutoFit/>
          </a:bodyPr>
          <a:lstStyle/>
          <a:p>
            <a:pPr algn="l"/>
            <a:r>
              <a:rPr sz="1700" b="1" i="0">
                <a:solidFill>
                  <a:srgbClr val="0F172A"/>
                </a:solidFill>
                <a:latin typeface="Segoe UI"/>
              </a:rPr>
              <a:t>Hạn chế</a:t>
            </a:r>
          </a:p>
        </p:txBody>
      </p:sp>
      <p:sp>
        <p:nvSpPr>
          <p:cNvPr id="10" name="TextBox 9"/>
          <p:cNvSpPr txBox="1"/>
          <p:nvPr/>
        </p:nvSpPr>
        <p:spPr>
          <a:xfrm>
            <a:off x="1051560" y="2340864"/>
            <a:ext cx="2971800" cy="3337560"/>
          </a:xfrm>
          <a:prstGeom prst="rect">
            <a:avLst/>
          </a:prstGeom>
          <a:noFill/>
        </p:spPr>
        <p:txBody>
          <a:bodyPr wrap="square">
            <a:spAutoFit/>
          </a:bodyPr>
          <a:lstStyle/>
          <a:p>
            <a:pPr>
              <a:spcAft>
                <a:spcPts val="500"/>
              </a:spcAft>
            </a:pPr>
            <a:r>
              <a:rPr sz="1420" b="1">
                <a:solidFill>
                  <a:srgbClr val="EF4444"/>
                </a:solidFill>
              </a:rPr>
              <a:t>• </a:t>
            </a:r>
            <a:r>
              <a:rPr sz="1420">
                <a:solidFill>
                  <a:srgbClr val="475569"/>
                </a:solidFill>
                <a:latin typeface="Segoe UI"/>
              </a:rPr>
              <a:t>Chưa đẩy mạnh dữ liệu seed lên mức 500-1000 bản ghi như yêu cầu mạnh nhất của đề.</a:t>
            </a:r>
          </a:p>
          <a:p>
            <a:pPr>
              <a:spcAft>
                <a:spcPts val="500"/>
              </a:spcAft>
            </a:pPr>
            <a:r>
              <a:rPr sz="1420" b="1">
                <a:solidFill>
                  <a:srgbClr val="EF4444"/>
                </a:solidFill>
              </a:rPr>
              <a:t>• </a:t>
            </a:r>
            <a:r>
              <a:rPr sz="1420">
                <a:solidFill>
                  <a:srgbClr val="475569"/>
                </a:solidFill>
                <a:latin typeface="Segoe UI"/>
              </a:rPr>
              <a:t>Chưa tối ưu hết edge case giao diện ở mọi độ phân giải và trạng thái dữ liệu.</a:t>
            </a:r>
          </a:p>
          <a:p>
            <a:pPr>
              <a:spcAft>
                <a:spcPts val="500"/>
              </a:spcAft>
            </a:pPr>
            <a:r>
              <a:rPr sz="1420" b="1">
                <a:solidFill>
                  <a:srgbClr val="EF4444"/>
                </a:solidFill>
              </a:rPr>
              <a:t>• </a:t>
            </a:r>
            <a:r>
              <a:rPr sz="1420">
                <a:solidFill>
                  <a:srgbClr val="475569"/>
                </a:solidFill>
                <a:latin typeface="Segoe UI"/>
              </a:rPr>
              <a:t>DevOps mới ở mức Docker local, chưa trình bày pipeline CI/CD hoàn chỉnh.</a:t>
            </a:r>
          </a:p>
        </p:txBody>
      </p:sp>
      <p:sp>
        <p:nvSpPr>
          <p:cNvPr id="11" name="Rounded Rectangle 10"/>
          <p:cNvSpPr/>
          <p:nvPr/>
        </p:nvSpPr>
        <p:spPr>
          <a:xfrm>
            <a:off x="4434840" y="1719072"/>
            <a:ext cx="3337560"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34840" y="1719072"/>
            <a:ext cx="3337560" cy="45720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1883664"/>
            <a:ext cx="2971800" cy="164592"/>
          </a:xfrm>
          <a:prstGeom prst="rect">
            <a:avLst/>
          </a:prstGeom>
          <a:noFill/>
        </p:spPr>
        <p:txBody>
          <a:bodyPr wrap="square" lIns="0" tIns="0" rIns="0" bIns="0" anchor="t">
            <a:spAutoFit/>
          </a:bodyPr>
          <a:lstStyle/>
          <a:p>
            <a:pPr algn="l"/>
            <a:r>
              <a:rPr sz="1700" b="1" i="0">
                <a:solidFill>
                  <a:srgbClr val="0F172A"/>
                </a:solidFill>
                <a:latin typeface="Segoe UI"/>
              </a:rPr>
              <a:t>Hướng nâng cấp ngắn hạn</a:t>
            </a:r>
          </a:p>
        </p:txBody>
      </p:sp>
      <p:sp>
        <p:nvSpPr>
          <p:cNvPr id="14" name="TextBox 13"/>
          <p:cNvSpPr txBox="1"/>
          <p:nvPr/>
        </p:nvSpPr>
        <p:spPr>
          <a:xfrm>
            <a:off x="4617720" y="2340864"/>
            <a:ext cx="2971800" cy="3337560"/>
          </a:xfrm>
          <a:prstGeom prst="rect">
            <a:avLst/>
          </a:prstGeom>
          <a:noFill/>
        </p:spPr>
        <p:txBody>
          <a:bodyPr wrap="square">
            <a:spAutoFit/>
          </a:bodyPr>
          <a:lstStyle/>
          <a:p>
            <a:pPr>
              <a:spcAft>
                <a:spcPts val="500"/>
              </a:spcAft>
            </a:pPr>
            <a:r>
              <a:rPr sz="1420" b="1">
                <a:solidFill>
                  <a:srgbClr val="0EA5E9"/>
                </a:solidFill>
              </a:rPr>
              <a:t>• </a:t>
            </a:r>
            <a:r>
              <a:rPr sz="1420">
                <a:solidFill>
                  <a:srgbClr val="475569"/>
                </a:solidFill>
                <a:latin typeface="Segoe UI"/>
              </a:rPr>
              <a:t>Bổ sung generator dữ liệu lớn và dashboard stress test.</a:t>
            </a:r>
          </a:p>
          <a:p>
            <a:pPr>
              <a:spcAft>
                <a:spcPts val="500"/>
              </a:spcAft>
            </a:pPr>
            <a:r>
              <a:rPr sz="1420" b="1">
                <a:solidFill>
                  <a:srgbClr val="0EA5E9"/>
                </a:solidFill>
              </a:rPr>
              <a:t>• </a:t>
            </a:r>
            <a:r>
              <a:rPr sz="1420">
                <a:solidFill>
                  <a:srgbClr val="475569"/>
                </a:solidFill>
                <a:latin typeface="Segoe UI"/>
              </a:rPr>
              <a:t>Đưa toàn bộ secret sang .env và chuẩn hóa cấu hình môi trường.</a:t>
            </a:r>
          </a:p>
          <a:p>
            <a:pPr>
              <a:spcAft>
                <a:spcPts val="500"/>
              </a:spcAft>
            </a:pPr>
            <a:r>
              <a:rPr sz="1420" b="1">
                <a:solidFill>
                  <a:srgbClr val="0EA5E9"/>
                </a:solidFill>
              </a:rPr>
              <a:t>• </a:t>
            </a:r>
            <a:r>
              <a:rPr sz="1420">
                <a:solidFill>
                  <a:srgbClr val="475569"/>
                </a:solidFill>
                <a:latin typeface="Segoe UI"/>
              </a:rPr>
              <a:t>Tăng coverage test frontend, đặc biệt cho flow form và table.</a:t>
            </a:r>
          </a:p>
        </p:txBody>
      </p:sp>
      <p:sp>
        <p:nvSpPr>
          <p:cNvPr id="15" name="Rounded Rectangle 14"/>
          <p:cNvSpPr/>
          <p:nvPr/>
        </p:nvSpPr>
        <p:spPr>
          <a:xfrm>
            <a:off x="8001000" y="1719072"/>
            <a:ext cx="3108960" cy="4160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01000" y="1719072"/>
            <a:ext cx="3108960" cy="45720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883664"/>
            <a:ext cx="2743200" cy="164592"/>
          </a:xfrm>
          <a:prstGeom prst="rect">
            <a:avLst/>
          </a:prstGeom>
          <a:noFill/>
        </p:spPr>
        <p:txBody>
          <a:bodyPr wrap="square" lIns="0" tIns="0" rIns="0" bIns="0" anchor="t">
            <a:spAutoFit/>
          </a:bodyPr>
          <a:lstStyle/>
          <a:p>
            <a:pPr algn="l"/>
            <a:r>
              <a:rPr sz="1700" b="1" i="0">
                <a:solidFill>
                  <a:srgbClr val="0F172A"/>
                </a:solidFill>
                <a:latin typeface="Segoe UI"/>
              </a:rPr>
              <a:t>Hướng phát triển dài hạn</a:t>
            </a:r>
          </a:p>
        </p:txBody>
      </p:sp>
      <p:sp>
        <p:nvSpPr>
          <p:cNvPr id="18" name="TextBox 17"/>
          <p:cNvSpPr txBox="1"/>
          <p:nvPr/>
        </p:nvSpPr>
        <p:spPr>
          <a:xfrm>
            <a:off x="8183880" y="2340864"/>
            <a:ext cx="2743200" cy="3337560"/>
          </a:xfrm>
          <a:prstGeom prst="rect">
            <a:avLst/>
          </a:prstGeom>
          <a:noFill/>
        </p:spPr>
        <p:txBody>
          <a:bodyPr wrap="square">
            <a:spAutoFit/>
          </a:bodyPr>
          <a:lstStyle/>
          <a:p>
            <a:pPr>
              <a:spcAft>
                <a:spcPts val="500"/>
              </a:spcAft>
            </a:pPr>
            <a:r>
              <a:rPr sz="1420" b="1">
                <a:solidFill>
                  <a:srgbClr val="14B8A6"/>
                </a:solidFill>
              </a:rPr>
              <a:t>• </a:t>
            </a:r>
            <a:r>
              <a:rPr sz="1420">
                <a:solidFill>
                  <a:srgbClr val="475569"/>
                </a:solidFill>
                <a:latin typeface="Segoe UI"/>
              </a:rPr>
              <a:t>Mobile app hoặc PWA offline.</a:t>
            </a:r>
          </a:p>
          <a:p>
            <a:pPr>
              <a:spcAft>
                <a:spcPts val="500"/>
              </a:spcAft>
            </a:pPr>
            <a:r>
              <a:rPr sz="1420" b="1">
                <a:solidFill>
                  <a:srgbClr val="14B8A6"/>
                </a:solidFill>
              </a:rPr>
              <a:t>• </a:t>
            </a:r>
            <a:r>
              <a:rPr sz="1420">
                <a:solidFill>
                  <a:srgbClr val="475569"/>
                </a:solidFill>
                <a:latin typeface="Segoe UI"/>
              </a:rPr>
              <a:t>Phân tích chi tiêu thông minh bằng AI/ML.</a:t>
            </a:r>
          </a:p>
          <a:p>
            <a:pPr>
              <a:spcAft>
                <a:spcPts val="500"/>
              </a:spcAft>
            </a:pPr>
            <a:r>
              <a:rPr sz="1420" b="1">
                <a:solidFill>
                  <a:srgbClr val="14B8A6"/>
                </a:solidFill>
              </a:rPr>
              <a:t>• </a:t>
            </a:r>
            <a:r>
              <a:rPr sz="1420">
                <a:solidFill>
                  <a:srgbClr val="475569"/>
                </a:solidFill>
                <a:latin typeface="Segoe UI"/>
              </a:rPr>
              <a:t>Kết nối e-wallet hoặc open banking trong tương lai.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13232" y="713232"/>
            <a:ext cx="10808208" cy="5440680"/>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078992"/>
            <a:ext cx="2560320" cy="164592"/>
          </a:xfrm>
          <a:prstGeom prst="rect">
            <a:avLst/>
          </a:prstGeom>
          <a:noFill/>
        </p:spPr>
        <p:txBody>
          <a:bodyPr wrap="square" lIns="0" tIns="0" rIns="0" bIns="0" anchor="t">
            <a:spAutoFit/>
          </a:bodyPr>
          <a:lstStyle/>
          <a:p>
            <a:pPr algn="l"/>
            <a:r>
              <a:rPr sz="1200" b="1" i="0">
                <a:solidFill>
                  <a:srgbClr val="FEF3C7"/>
                </a:solidFill>
                <a:latin typeface="Segoe UI"/>
              </a:rPr>
              <a:t>KẾT LUẬN</a:t>
            </a:r>
          </a:p>
        </p:txBody>
      </p:sp>
      <p:sp>
        <p:nvSpPr>
          <p:cNvPr id="5" name="TextBox 4"/>
          <p:cNvSpPr txBox="1"/>
          <p:nvPr/>
        </p:nvSpPr>
        <p:spPr>
          <a:xfrm>
            <a:off x="1078992" y="1810512"/>
            <a:ext cx="8869680" cy="658368"/>
          </a:xfrm>
          <a:prstGeom prst="rect">
            <a:avLst/>
          </a:prstGeom>
          <a:noFill/>
        </p:spPr>
        <p:txBody>
          <a:bodyPr wrap="square" lIns="0" tIns="0" rIns="0" bIns="0" anchor="t">
            <a:spAutoFit/>
          </a:bodyPr>
          <a:lstStyle/>
          <a:p>
            <a:pPr algn="l"/>
            <a:r>
              <a:rPr sz="2700" b="1" i="0">
                <a:solidFill>
                  <a:srgbClr val="FFFFFF"/>
                </a:solidFill>
                <a:latin typeface="Segoe UI"/>
              </a:rPr>
              <a:t>Junkio Expense Tracker cho thấy khả năng xây dựng một hệ thống web full-stack có tính thực tiễn, có tổ chức, có bảo mật và có thể triển khai lại bằng Docker.</a:t>
            </a:r>
          </a:p>
        </p:txBody>
      </p:sp>
      <p:sp>
        <p:nvSpPr>
          <p:cNvPr id="6" name="TextBox 5"/>
          <p:cNvSpPr txBox="1"/>
          <p:nvPr/>
        </p:nvSpPr>
        <p:spPr>
          <a:xfrm>
            <a:off x="1078992" y="3127248"/>
            <a:ext cx="8001000" cy="420624"/>
          </a:xfrm>
          <a:prstGeom prst="rect">
            <a:avLst/>
          </a:prstGeom>
          <a:noFill/>
        </p:spPr>
        <p:txBody>
          <a:bodyPr wrap="square" lIns="0" tIns="0" rIns="0" bIns="0" anchor="t">
            <a:spAutoFit/>
          </a:bodyPr>
          <a:lstStyle/>
          <a:p>
            <a:pPr algn="l"/>
            <a:r>
              <a:rPr sz="1800" b="0" i="0" dirty="0">
                <a:solidFill>
                  <a:srgbClr val="E2E8F0"/>
                </a:solidFill>
                <a:latin typeface="Segoe UI"/>
              </a:rPr>
              <a:t>Em </a:t>
            </a:r>
            <a:r>
              <a:rPr sz="1800" b="0" i="0" dirty="0" err="1">
                <a:solidFill>
                  <a:srgbClr val="E2E8F0"/>
                </a:solidFill>
                <a:latin typeface="Segoe UI"/>
              </a:rPr>
              <a:t>xin</a:t>
            </a:r>
            <a:r>
              <a:rPr sz="1800" b="0" i="0" dirty="0">
                <a:solidFill>
                  <a:srgbClr val="E2E8F0"/>
                </a:solidFill>
                <a:latin typeface="Segoe UI"/>
              </a:rPr>
              <a:t> </a:t>
            </a:r>
            <a:r>
              <a:rPr sz="1800" b="0" i="0" dirty="0" err="1">
                <a:solidFill>
                  <a:srgbClr val="E2E8F0"/>
                </a:solidFill>
                <a:latin typeface="Segoe UI"/>
              </a:rPr>
              <a:t>cảm</a:t>
            </a:r>
            <a:r>
              <a:rPr sz="1800" b="0" i="0" dirty="0">
                <a:solidFill>
                  <a:srgbClr val="E2E8F0"/>
                </a:solidFill>
                <a:latin typeface="Segoe UI"/>
              </a:rPr>
              <a:t> </a:t>
            </a:r>
            <a:r>
              <a:rPr sz="1800" b="0" i="0" dirty="0" err="1">
                <a:solidFill>
                  <a:srgbClr val="E2E8F0"/>
                </a:solidFill>
                <a:latin typeface="Segoe UI"/>
              </a:rPr>
              <a:t>ơn</a:t>
            </a:r>
            <a:r>
              <a:rPr sz="1800" b="0" i="0" dirty="0">
                <a:solidFill>
                  <a:srgbClr val="E2E8F0"/>
                </a:solidFill>
                <a:latin typeface="Segoe UI"/>
              </a:rPr>
              <a:t> </a:t>
            </a:r>
            <a:r>
              <a:rPr sz="1800" b="0" i="0" dirty="0" err="1">
                <a:solidFill>
                  <a:srgbClr val="E2E8F0"/>
                </a:solidFill>
                <a:latin typeface="Segoe UI"/>
              </a:rPr>
              <a:t>thầy</a:t>
            </a:r>
            <a:r>
              <a:rPr sz="1800" b="0" i="0" dirty="0">
                <a:solidFill>
                  <a:srgbClr val="E2E8F0"/>
                </a:solidFill>
                <a:latin typeface="Segoe UI"/>
              </a:rPr>
              <a:t>/</a:t>
            </a:r>
            <a:r>
              <a:rPr sz="1800" b="0" i="0" dirty="0" err="1">
                <a:solidFill>
                  <a:srgbClr val="E2E8F0"/>
                </a:solidFill>
                <a:latin typeface="Segoe UI"/>
              </a:rPr>
              <a:t>cô</a:t>
            </a:r>
            <a:r>
              <a:rPr sz="1800" b="0" i="0" dirty="0">
                <a:solidFill>
                  <a:srgbClr val="E2E8F0"/>
                </a:solidFill>
                <a:latin typeface="Segoe UI"/>
              </a:rPr>
              <a:t> </a:t>
            </a:r>
            <a:r>
              <a:rPr sz="1800" b="0" i="0" dirty="0" err="1">
                <a:solidFill>
                  <a:srgbClr val="E2E8F0"/>
                </a:solidFill>
                <a:latin typeface="Segoe UI"/>
              </a:rPr>
              <a:t>và</a:t>
            </a:r>
            <a:r>
              <a:rPr sz="1800" b="0" i="0" dirty="0">
                <a:solidFill>
                  <a:srgbClr val="E2E8F0"/>
                </a:solidFill>
                <a:latin typeface="Segoe UI"/>
              </a:rPr>
              <a:t> </a:t>
            </a:r>
            <a:r>
              <a:rPr sz="1800" b="0" i="0" dirty="0" err="1">
                <a:solidFill>
                  <a:srgbClr val="E2E8F0"/>
                </a:solidFill>
                <a:latin typeface="Segoe UI"/>
              </a:rPr>
              <a:t>hội</a:t>
            </a:r>
            <a:r>
              <a:rPr sz="1800" b="0" i="0" dirty="0">
                <a:solidFill>
                  <a:srgbClr val="E2E8F0"/>
                </a:solidFill>
                <a:latin typeface="Segoe UI"/>
              </a:rPr>
              <a:t> </a:t>
            </a:r>
            <a:r>
              <a:rPr sz="1800" b="0" i="0" dirty="0" err="1">
                <a:solidFill>
                  <a:srgbClr val="E2E8F0"/>
                </a:solidFill>
                <a:latin typeface="Segoe UI"/>
              </a:rPr>
              <a:t>đồng</a:t>
            </a:r>
            <a:r>
              <a:rPr sz="1800" b="0" i="0" dirty="0">
                <a:solidFill>
                  <a:srgbClr val="E2E8F0"/>
                </a:solidFill>
                <a:latin typeface="Segoe UI"/>
              </a:rPr>
              <a:t> </a:t>
            </a:r>
            <a:r>
              <a:rPr sz="1800" b="0" i="0" dirty="0" err="1">
                <a:solidFill>
                  <a:srgbClr val="E2E8F0"/>
                </a:solidFill>
                <a:latin typeface="Segoe UI"/>
              </a:rPr>
              <a:t>đã</a:t>
            </a:r>
            <a:r>
              <a:rPr sz="1800" b="0" i="0" dirty="0">
                <a:solidFill>
                  <a:srgbClr val="E2E8F0"/>
                </a:solidFill>
                <a:latin typeface="Segoe UI"/>
              </a:rPr>
              <a:t> </a:t>
            </a:r>
            <a:r>
              <a:rPr sz="1800" b="0" i="0" dirty="0" err="1">
                <a:solidFill>
                  <a:srgbClr val="E2E8F0"/>
                </a:solidFill>
                <a:latin typeface="Segoe UI"/>
              </a:rPr>
              <a:t>lắng</a:t>
            </a:r>
            <a:r>
              <a:rPr sz="1800" b="0" i="0" dirty="0">
                <a:solidFill>
                  <a:srgbClr val="E2E8F0"/>
                </a:solidFill>
                <a:latin typeface="Segoe UI"/>
              </a:rPr>
              <a:t> </a:t>
            </a:r>
            <a:r>
              <a:rPr sz="1800" b="0" i="0" dirty="0" err="1">
                <a:solidFill>
                  <a:srgbClr val="E2E8F0"/>
                </a:solidFill>
                <a:latin typeface="Segoe UI"/>
              </a:rPr>
              <a:t>nghe</a:t>
            </a:r>
            <a:r>
              <a:rPr sz="1800" b="0" i="0" dirty="0">
                <a:solidFill>
                  <a:srgbClr val="E2E8F0"/>
                </a:solidFill>
                <a:latin typeface="Segoe UI"/>
              </a:rPr>
              <a:t>.</a:t>
            </a:r>
            <a:br>
              <a:rPr dirty="0"/>
            </a:br>
            <a:r>
              <a:rPr dirty="0" err="1"/>
              <a:t>Rất</a:t>
            </a:r>
            <a:r>
              <a:rPr dirty="0"/>
              <a:t> </a:t>
            </a:r>
            <a:r>
              <a:rPr dirty="0" err="1"/>
              <a:t>mong</a:t>
            </a:r>
            <a:r>
              <a:rPr dirty="0"/>
              <a:t> </a:t>
            </a:r>
            <a:r>
              <a:rPr dirty="0" err="1"/>
              <a:t>nhận</a:t>
            </a:r>
            <a:r>
              <a:rPr dirty="0"/>
              <a:t> </a:t>
            </a:r>
            <a:r>
              <a:rPr dirty="0" err="1"/>
              <a:t>được</a:t>
            </a:r>
            <a:r>
              <a:rPr dirty="0"/>
              <a:t> </a:t>
            </a:r>
            <a:r>
              <a:rPr dirty="0" err="1"/>
              <a:t>câu</a:t>
            </a:r>
            <a:r>
              <a:rPr dirty="0"/>
              <a:t> </a:t>
            </a:r>
            <a:r>
              <a:rPr dirty="0" err="1"/>
              <a:t>hỏi</a:t>
            </a:r>
            <a:r>
              <a:rPr dirty="0"/>
              <a:t> </a:t>
            </a:r>
            <a:r>
              <a:rPr dirty="0" err="1"/>
              <a:t>và</a:t>
            </a:r>
            <a:r>
              <a:rPr dirty="0"/>
              <a:t> </a:t>
            </a:r>
            <a:r>
              <a:rPr dirty="0" err="1"/>
              <a:t>góp</a:t>
            </a:r>
            <a:r>
              <a:rPr dirty="0"/>
              <a:t> ý </a:t>
            </a:r>
            <a:r>
              <a:rPr dirty="0" err="1"/>
              <a:t>để</a:t>
            </a:r>
            <a:r>
              <a:rPr dirty="0"/>
              <a:t> </a:t>
            </a:r>
            <a:r>
              <a:rPr dirty="0" err="1"/>
              <a:t>hoàn</a:t>
            </a:r>
            <a:r>
              <a:rPr dirty="0"/>
              <a:t> </a:t>
            </a:r>
            <a:r>
              <a:rPr dirty="0" err="1"/>
              <a:t>thiện</a:t>
            </a:r>
            <a:r>
              <a:rPr dirty="0"/>
              <a:t> </a:t>
            </a:r>
            <a:r>
              <a:rPr dirty="0" err="1"/>
              <a:t>thêm</a:t>
            </a:r>
            <a:r>
              <a:rPr dirty="0"/>
              <a:t> </a:t>
            </a:r>
            <a:r>
              <a:rPr dirty="0" err="1"/>
              <a:t>sản</a:t>
            </a:r>
            <a:r>
              <a:rPr dirty="0"/>
              <a:t> </a:t>
            </a:r>
            <a:r>
              <a:rPr dirty="0" err="1"/>
              <a:t>phẩm</a:t>
            </a:r>
            <a:r>
              <a:rPr dirty="0"/>
              <a:t>.</a:t>
            </a:r>
          </a:p>
        </p:txBody>
      </p:sp>
      <p:sp>
        <p:nvSpPr>
          <p:cNvPr id="7" name="Rounded Rectangle 6"/>
          <p:cNvSpPr/>
          <p:nvPr/>
        </p:nvSpPr>
        <p:spPr>
          <a:xfrm>
            <a:off x="1078992" y="4773168"/>
            <a:ext cx="694944" cy="310896"/>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8992" y="4818888"/>
            <a:ext cx="694944" cy="146304"/>
          </a:xfrm>
          <a:prstGeom prst="rect">
            <a:avLst/>
          </a:prstGeom>
          <a:noFill/>
        </p:spPr>
        <p:txBody>
          <a:bodyPr wrap="square" lIns="0" tIns="0" rIns="0" bIns="0" anchor="t">
            <a:spAutoFit/>
          </a:bodyPr>
          <a:lstStyle/>
          <a:p>
            <a:pPr algn="ctr"/>
            <a:r>
              <a:rPr sz="1050" b="1" i="0">
                <a:solidFill>
                  <a:srgbClr val="0F172A"/>
                </a:solidFill>
                <a:latin typeface="Segoe UI"/>
              </a:rPr>
              <a:t>Q&amp;A</a:t>
            </a:r>
          </a:p>
        </p:txBody>
      </p:sp>
      <p:sp>
        <p:nvSpPr>
          <p:cNvPr id="9" name="Rounded Rectangle 8"/>
          <p:cNvSpPr/>
          <p:nvPr/>
        </p:nvSpPr>
        <p:spPr>
          <a:xfrm>
            <a:off x="1883664" y="4773168"/>
            <a:ext cx="886968" cy="310896"/>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83664" y="4818888"/>
            <a:ext cx="886968" cy="146304"/>
          </a:xfrm>
          <a:prstGeom prst="rect">
            <a:avLst/>
          </a:prstGeom>
          <a:noFill/>
        </p:spPr>
        <p:txBody>
          <a:bodyPr wrap="square" lIns="0" tIns="0" rIns="0" bIns="0" anchor="t">
            <a:spAutoFit/>
          </a:bodyPr>
          <a:lstStyle/>
          <a:p>
            <a:pPr algn="ctr"/>
            <a:r>
              <a:rPr sz="1050" b="1" i="0">
                <a:solidFill>
                  <a:srgbClr val="0F172A"/>
                </a:solidFill>
                <a:latin typeface="Segoe UI"/>
              </a:rPr>
              <a:t>Cảm ơn</a:t>
            </a:r>
          </a:p>
        </p:txBody>
      </p:sp>
      <p:sp>
        <p:nvSpPr>
          <p:cNvPr id="11" name="Rounded Rectangle 10"/>
          <p:cNvSpPr/>
          <p:nvPr/>
        </p:nvSpPr>
        <p:spPr>
          <a:xfrm>
            <a:off x="2880360" y="4773168"/>
            <a:ext cx="886968" cy="310896"/>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4818888"/>
            <a:ext cx="886968" cy="146304"/>
          </a:xfrm>
          <a:prstGeom prst="rect">
            <a:avLst/>
          </a:prstGeom>
          <a:noFill/>
        </p:spPr>
        <p:txBody>
          <a:bodyPr wrap="square" lIns="0" tIns="0" rIns="0" bIns="0" anchor="t">
            <a:spAutoFit/>
          </a:bodyPr>
          <a:lstStyle/>
          <a:p>
            <a:pPr algn="ctr"/>
            <a:r>
              <a:rPr sz="1050" b="1" i="0">
                <a:solidFill>
                  <a:srgbClr val="0F172A"/>
                </a:solidFill>
                <a:latin typeface="Segoe UI"/>
              </a:rPr>
              <a:t>Junkio</a:t>
            </a:r>
          </a:p>
        </p:txBody>
      </p:sp>
      <p:sp>
        <p:nvSpPr>
          <p:cNvPr id="13" name="TextBox 12"/>
          <p:cNvSpPr txBox="1"/>
          <p:nvPr/>
        </p:nvSpPr>
        <p:spPr>
          <a:xfrm>
            <a:off x="11082528" y="274320"/>
            <a:ext cx="411480" cy="164592"/>
          </a:xfrm>
          <a:prstGeom prst="rect">
            <a:avLst/>
          </a:prstGeom>
          <a:noFill/>
        </p:spPr>
        <p:txBody>
          <a:bodyPr wrap="square" lIns="0" tIns="0" rIns="0" bIns="0" anchor="t">
            <a:spAutoFit/>
          </a:bodyPr>
          <a:lstStyle/>
          <a:p>
            <a:pPr algn="r"/>
            <a:r>
              <a:rPr sz="1200" b="1" i="0">
                <a:solidFill>
                  <a:srgbClr val="CBD5E1"/>
                </a:solidFill>
                <a:latin typeface="Segoe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3019</Words>
  <Application>Microsoft Office PowerPoint</Application>
  <PresentationFormat>Widescreen</PresentationFormat>
  <Paragraphs>366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Junkio Expense Tracker - Bao cao cuoi ky</dc:title>
  <dc:subject>Mau PowerPoint 20 slide</dc:subject>
  <dc:creator>OpenAI Codex</dc:creator>
  <cp:keywords/>
  <dc:description>generated using python-pptx</dc:description>
  <cp:lastModifiedBy>Hoang Thanh Dat</cp:lastModifiedBy>
  <cp:revision>4</cp:revision>
  <dcterms:created xsi:type="dcterms:W3CDTF">2013-01-27T09:14:16Z</dcterms:created>
  <dcterms:modified xsi:type="dcterms:W3CDTF">2026-04-03T02:50:35Z</dcterms:modified>
  <cp:category/>
</cp:coreProperties>
</file>